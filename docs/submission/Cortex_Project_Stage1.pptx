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</p:sldMasterIdLst>
  <p:notesMasterIdLst>
    <p:notesMasterId r:id="rId29"/>
  </p:notesMasterIdLst>
  <p:sldIdLst>
    <p:sldId id="295" r:id="rId3"/>
    <p:sldId id="292" r:id="rId4"/>
    <p:sldId id="293" r:id="rId5"/>
    <p:sldId id="294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270" r:id="rId28"/>
  </p:sldIdLst>
  <p:sldSz cx="12192000" cy="6858000"/>
  <p:notesSz cx="6858000" cy="9144000"/>
  <p:embeddedFontLst>
    <p:embeddedFont>
      <p:font typeface="Ebrima" panose="02000000000000000000" pitchFamily="2" charset="0"/>
      <p:regular r:id="rId30"/>
      <p:bold r:id="rId31"/>
    </p:embeddedFont>
    <p:embeddedFont>
      <p:font typeface="Metropolis" panose="020B0604020202020204" charset="0"/>
      <p:regular r:id="rId32"/>
      <p:bold r:id="rId33"/>
      <p:italic r:id="rId34"/>
      <p:boldItalic r:id="rId35"/>
    </p:embeddedFont>
    <p:embeddedFont>
      <p:font typeface="Metropolis Black" panose="00000A00000000000000" charset="0"/>
      <p:bold r:id="rId36"/>
      <p:boldItalic r:id="rId37"/>
    </p:embeddedFont>
    <p:embeddedFont>
      <p:font typeface="Metropolis Extra Bold" panose="00000900000000000000" charset="0"/>
      <p:bold r:id="rId38"/>
      <p:boldItalic r:id="rId39"/>
    </p:embeddedFont>
    <p:embeddedFont>
      <p:font typeface="Metropolis Semi Bold" panose="020B0604020202020204" charset="0"/>
      <p:bold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maan" initials="A" lastIdx="2" clrIdx="0">
    <p:extLst>
      <p:ext uri="{19B8F6BF-5375-455C-9EA6-DF929625EA0E}">
        <p15:presenceInfo xmlns:p15="http://schemas.microsoft.com/office/powerpoint/2012/main" userId="Arma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6D71"/>
    <a:srgbClr val="F6EDDC"/>
    <a:srgbClr val="B22B2F"/>
    <a:srgbClr val="3EB049"/>
    <a:srgbClr val="00ADD8"/>
    <a:srgbClr val="F99D25"/>
    <a:srgbClr val="FDB713"/>
    <a:srgbClr val="C21F33"/>
    <a:srgbClr val="E2B458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notesMaster" Target="notesMasters/notesMaster1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Relationship Id="rId34" Type="http://schemas.openxmlformats.org/officeDocument/2006/relationships/font" Target="fonts/font5.fntdata"/><Relationship Id="rId35" Type="http://schemas.openxmlformats.org/officeDocument/2006/relationships/font" Target="fonts/font6.fntdata"/><Relationship Id="rId36" Type="http://schemas.openxmlformats.org/officeDocument/2006/relationships/font" Target="fonts/font7.fntdata"/><Relationship Id="rId37" Type="http://schemas.openxmlformats.org/officeDocument/2006/relationships/font" Target="fonts/font8.fntdata"/><Relationship Id="rId38" Type="http://schemas.openxmlformats.org/officeDocument/2006/relationships/font" Target="fonts/font9.fntdata"/><Relationship Id="rId39" Type="http://schemas.openxmlformats.org/officeDocument/2006/relationships/font" Target="fonts/font10.fntdata"/><Relationship Id="rId40" Type="http://schemas.openxmlformats.org/officeDocument/2006/relationships/font" Target="fonts/font11.fntdata"/><Relationship Id="rId41" Type="http://schemas.openxmlformats.org/officeDocument/2006/relationships/font" Target="fonts/font12.fntdata"/><Relationship Id="rId42" Type="http://schemas.openxmlformats.org/officeDocument/2006/relationships/commentAuthors" Target="commentAuthors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amesh Kumbhar" userId="ea3e8e4c9249b06d" providerId="LiveId" clId="{7187BCE7-B97E-41EC-8D23-4D0F409524E2}"/>
    <pc:docChg chg="modSld">
      <pc:chgData name="Prathamesh Kumbhar" userId="ea3e8e4c9249b06d" providerId="LiveId" clId="{7187BCE7-B97E-41EC-8D23-4D0F409524E2}" dt="2026-10-30T10:07:13.977" v="0" actId="20577"/>
      <pc:docMkLst>
        <pc:docMk/>
      </pc:docMkLst>
      <pc:sldChg chg="modSp mod">
        <pc:chgData name="Prathamesh Kumbhar" userId="ea3e8e4c9249b06d" providerId="LiveId" clId="{7187BCE7-B97E-41EC-8D23-4D0F409524E2}" dt="2026-10-30T10:07:13.977" v="0" actId="20577"/>
        <pc:sldMkLst>
          <pc:docMk/>
          <pc:sldMk cId="3737368131" sldId="295"/>
        </pc:sldMkLst>
        <pc:spChg chg="mod">
          <ac:chgData name="Prathamesh Kumbhar" userId="ea3e8e4c9249b06d" providerId="LiveId" clId="{7187BCE7-B97E-41EC-8D23-4D0F409524E2}" dt="2026-10-30T10:07:13.977" v="0" actId="20577"/>
          <ac:spMkLst>
            <pc:docMk/>
            <pc:sldMk cId="3737368131" sldId="295"/>
            <ac:spMk id="5" creationId="{05898B55-9F1B-490F-BD8D-D3DD7F2BB38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DD0D1-3A4C-4CAF-8A60-E4CE5F3BDD13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48F3D-00CE-416A-A0FE-C8C0FF40A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38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3BDB9-0296-48AD-899D-DA333D3E6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6C3E5-3713-4902-9AD5-60AC467AC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A2D7-EBEB-45F8-818E-3E0A40B2C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41E4-A022-489A-94B0-DF8C0878C2DA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CD601-A5BA-4A32-A3A5-594D5F81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2E658-6F5D-401F-8F94-AA341693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F6380-853D-47FF-98B7-15E0FE4A7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459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34073D"/>
            </a:gs>
            <a:gs pos="67000">
              <a:srgbClr val="7F3349"/>
            </a:gs>
            <a:gs pos="100000">
              <a:srgbClr val="EF745C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F3BD8-6140-4A48-AA34-0FC49DB8D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60C82-46C8-47EB-B7C0-13B5C65D1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B0195-37DF-4DF8-9922-32EB1954B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41E4-A022-489A-94B0-DF8C0878C2DA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0C7F0-65E7-4E93-A26C-F90EC664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1DC25-9F01-49F2-9A3E-86DFA305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F6380-853D-47FF-98B7-15E0FE4A7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08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7A31-73F6-4B3B-AD8E-A1FA64E12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DD9AC-8332-4554-9922-0D2DC2ADD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ECAF8-9ED5-4F95-B98D-C65E0FB6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41E4-A022-489A-94B0-DF8C0878C2DA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78C7A-0735-4051-80C6-7CCD6DF6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D6A40-0668-4E76-B576-FD2C24C38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F6380-853D-47FF-98B7-15E0FE4A7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295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7F18-35B9-47BD-BECE-6D6434BF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85127-208E-4E34-AE9C-DECF82E35D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A222A-A755-4E0D-BA4E-65B7171AF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E5AA3-F9ED-4438-AF41-842E0896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41E4-A022-489A-94B0-DF8C0878C2DA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B688B-1A62-483F-B912-D8B5B00E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3E5BF-082B-4C9A-84F9-8EB60404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F6380-853D-47FF-98B7-15E0FE4A7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824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B13B8-5D88-4CB4-9DEE-C62D0794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F736C-AD01-4753-8D0E-F73D8B3AC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BED74-AB01-4F26-B325-7336543EB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333D3F-4AA7-4E87-A7BC-A01D2DC35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A7596E-0CB1-4BB7-BD13-9A1EE0E18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1FAF2B-903E-4C0A-80F1-C39F4DF4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41E4-A022-489A-94B0-DF8C0878C2DA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A8594E-CA2C-4CD3-8D27-0F5D0F088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2CDD1-B0A7-426E-B21B-D1BC6B150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F6380-853D-47FF-98B7-15E0FE4A7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961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03B32-57FD-49DB-8E01-DB41D6CD0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4DCFE7-5819-436F-AA89-38632206F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41E4-A022-489A-94B0-DF8C0878C2DA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F1E48-1C2F-413E-BBC5-84E7B0CE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9ACF5-FC31-4652-AF41-9EEFCDF8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F6380-853D-47FF-98B7-15E0FE4A7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62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612963-C879-4EC6-8B33-F1E07F0E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41E4-A022-489A-94B0-DF8C0878C2DA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4A0EEA-5921-4AE0-91F0-BFA973B3F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D9F02-2DE0-4BB5-BF47-8DB4AD7D9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F6380-853D-47FF-98B7-15E0FE4A7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36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36F1-F1FE-4D7A-A821-A12B46B38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45E95-FF74-4F03-B1AC-16195A994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12B24-BFDF-44B0-8E52-032D2A973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FFF81-9CE7-4B7B-B716-57A5A9D6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41E4-A022-489A-94B0-DF8C0878C2DA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771FE-B336-4D59-9D7F-27AFD98F3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97FE8-FC08-4939-93B2-E8FFEC8A8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F6380-853D-47FF-98B7-15E0FE4A7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86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EF40B-C1ED-45E3-892A-D9749B3AD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4D4EC4-07FA-4069-A145-554F9241B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B698F-30B6-4DCA-A9CC-D0974C264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B6398-CB34-4E4C-8152-1BCDB0CB2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41E4-A022-489A-94B0-DF8C0878C2DA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F592E-8F2B-4E36-9B0F-17AF6CEC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9C02F-5CD6-4D7A-A725-8A08B3D5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F6380-853D-47FF-98B7-15E0FE4A7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17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ED02-D219-4D38-917B-1574E5C5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6CA35-2584-4FB5-84C4-C8C4F0097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45EB3-568B-4A70-9E87-2FDBCA7E0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41E4-A022-489A-94B0-DF8C0878C2DA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195B3-13BA-4743-968A-C79BE3FE6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0F243-EBB1-46A1-A9B2-51DD9BFA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F6380-853D-47FF-98B7-15E0FE4A7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1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F5BCF1-1962-49B3-8288-C4998278A8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10AD4-E5C1-4017-810E-A3A1DF11F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1470-A26C-44D2-8E32-A8FB988BE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41E4-A022-489A-94B0-DF8C0878C2DA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F4380-2C49-4F6E-83A1-9CF485C7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5502A-0BEF-470C-AFB3-7C7B56D6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F6380-853D-47FF-98B7-15E0FE4A7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680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EBED-2517-4A76-A768-8120FFFA2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1421D-B098-40A5-9A85-C16F51C93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8C70F-EB12-41A2-98E6-9489908DA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F22B8-8BDC-4336-BC2D-EBA74E4A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D. Y. Patil Institute of Technology  |  Internal Quality Assurance Cell (IQAC)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4C524-A22E-46AD-A0A2-833B55506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206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17C5-87A0-4A96-AAFA-EF97DBA1A7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3076"/>
            <a:ext cx="10515600" cy="748171"/>
          </a:xfrm>
        </p:spPr>
        <p:txBody>
          <a:bodyPr>
            <a:normAutofit/>
          </a:bodyPr>
          <a:lstStyle>
            <a:lvl1pPr>
              <a:defRPr sz="3600">
                <a:solidFill>
                  <a:srgbClr val="6B6D71"/>
                </a:solidFill>
                <a:latin typeface="Metropolis Extra Bold" panose="000009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1CD9D-E807-4ECA-BF21-1B23A926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320678"/>
            <a:ext cx="5486400" cy="256274"/>
          </a:xfrm>
        </p:spPr>
        <p:txBody>
          <a:bodyPr/>
          <a:lstStyle>
            <a:lvl1pPr>
              <a:defRPr sz="1100">
                <a:latin typeface="Metropolis Semi Bold" panose="00000700000000000000" pitchFamily="50" charset="0"/>
              </a:defRPr>
            </a:lvl1pPr>
          </a:lstStyle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</a:t>
            </a:r>
            <a:r>
              <a:rPr lang="en-US" b="1" dirty="0">
                <a:latin typeface="Metropolis" panose="00000500000000000000" pitchFamily="50" charset="0"/>
              </a:rPr>
              <a:t>Dr. D. Y. Patil Institute of Technology</a:t>
            </a:r>
            <a:endParaRPr lang="en-IN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4F902-A5DC-4765-88C6-E9406E15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120" y="6356352"/>
            <a:ext cx="739680" cy="223184"/>
          </a:xfrm>
        </p:spPr>
        <p:txBody>
          <a:bodyPr/>
          <a:lstStyle>
            <a:lvl1pPr>
              <a:defRPr>
                <a:solidFill>
                  <a:srgbClr val="6B6D71"/>
                </a:solidFill>
                <a:latin typeface="Metropolis Semi Bold" panose="00000700000000000000" pitchFamily="50" charset="0"/>
              </a:defRPr>
            </a:lvl1pPr>
          </a:lstStyle>
          <a:p>
            <a:fld id="{675124C6-FD9A-4851-9C21-6B319165FA1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C347F30-9588-49D7-B17E-8011026FF3D1}"/>
              </a:ext>
            </a:extLst>
          </p:cNvPr>
          <p:cNvSpPr/>
          <p:nvPr userDrawn="1"/>
        </p:nvSpPr>
        <p:spPr>
          <a:xfrm>
            <a:off x="838200" y="893372"/>
            <a:ext cx="1416728" cy="79991"/>
          </a:xfrm>
          <a:prstGeom prst="roundRect">
            <a:avLst>
              <a:gd name="adj" fmla="val 50000"/>
            </a:avLst>
          </a:prstGeom>
          <a:solidFill>
            <a:srgbClr val="B22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6C2463-59B5-4482-A42D-ED358D9338DB}"/>
              </a:ext>
            </a:extLst>
          </p:cNvPr>
          <p:cNvSpPr/>
          <p:nvPr userDrawn="1"/>
        </p:nvSpPr>
        <p:spPr>
          <a:xfrm>
            <a:off x="609600" y="6721475"/>
            <a:ext cx="10972800" cy="150471"/>
          </a:xfrm>
          <a:prstGeom prst="rect">
            <a:avLst/>
          </a:prstGeom>
          <a:solidFill>
            <a:srgbClr val="D1A5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3C5D14-D531-471B-9ED2-77A1964F2CD8}"/>
              </a:ext>
            </a:extLst>
          </p:cNvPr>
          <p:cNvCxnSpPr/>
          <p:nvPr userDrawn="1"/>
        </p:nvCxnSpPr>
        <p:spPr>
          <a:xfrm>
            <a:off x="609600" y="6217920"/>
            <a:ext cx="10972800" cy="0"/>
          </a:xfrm>
          <a:prstGeom prst="line">
            <a:avLst/>
          </a:prstGeom>
          <a:ln>
            <a:solidFill>
              <a:srgbClr val="B22B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114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3120C-E77D-45DB-8E8A-A8DF62F32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B696F-F5A0-4206-BE00-48E40301F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00D58-91B2-4578-BA35-8A5F7BDFC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FBDC6-DDA2-487A-BA64-92B343AB4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D. Y. Patil Institute of Technology  |  Internal Quality Assurance Cell (IQAC)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D9203-9230-4518-A3E7-0F8F80C6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780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5FEA9-2587-4C27-BB5B-DD484297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0FDFE-E5BA-4933-832A-61D43E149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73E8D-E62C-41A9-A5CC-DB61AED08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3E62D-6389-46C8-91C1-A051FFE4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1E7CB-C5C7-436D-B014-18F9A73D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D. Y. Patil Institute of Technology  |  Internal Quality Assurance Cell (IQAC)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0F696-548C-4A2B-81A3-717B142A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724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F3EE-5E49-4E29-8B39-8FD1FBF15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A3771-F1BC-412C-8273-68A4C5BC1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8EAB1-6C5A-44D4-BB8F-78F4369DB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5AC37C-CBA6-4986-ADBE-094F4CF0D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B96F0-A35D-4333-8FA4-D05000172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680EE0-F338-4649-A70A-E07F339C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BDAC35-D99F-41A6-8469-C4C81F103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D. Y. Patil Institute of Technology  |  Internal Quality Assurance Cell (IQAC)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BE13B0-4263-40D4-9996-C3D6D7F7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478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EDA9-5BF9-4C33-AB7C-ADA282F16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08FC5-6048-406B-B097-ACF0886A7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F8E8C7-2308-486C-ADB0-2C8CFF4A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D. Y. Patil Institute of Technology  |  Internal Quality Assurance Cell (IQAC)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87261-B70E-49B5-A71A-7AA87F78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0938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3734A-2642-4C3A-9F78-DF33BD197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9A530-C984-402A-A475-314AD0458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D. Y. Patil Institute of Technology  |  Internal Quality Assurance Cell (IQAC)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D591E-4031-401F-9616-BAE3276D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701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2A03B-6B5A-4BEC-A2FD-D74B78EF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DDC07-0DE2-4D21-98C9-7F805C322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F1833-DFD5-413F-83DD-F977D91FE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9F41-D8C1-46CB-9569-1C554B9D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066D2-3075-423C-A310-D701C079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D. Y. Patil Institute of Technology  |  Internal Quality Assurance Cell (IQAC)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9E49F-92B5-45C1-91A9-01E8A1B7A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4121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77585-A383-4C6D-AFE4-FF4D368DD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0F7DC4-87AC-4885-975C-A48537D721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2840C-304C-437E-839A-10FAE0065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93CA6-5FE9-4128-8D17-83BF91560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47DF1-68E4-4B36-B8EA-4B3B7078C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D. Y. Patil Institute of Technology  |  Internal Quality Assurance Cell (IQAC)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FF612-86C0-4847-8070-E7E148310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7118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20E28-84D6-46A7-B652-1DEC1D94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E61098-0E2C-4FF5-91BB-8619480EC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C00E1-3A9E-4D89-91B9-BA1E5AE4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40C4D-4244-4069-B80A-2011A4692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D. Y. Patil Institute of Technology  |  Internal Quality Assurance Cell (IQAC)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8C434-908D-47B3-8C35-AAD622B0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7378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E685F0-08F9-4484-84D2-E6BCCAC2B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4C787-F001-4FC4-A01F-0793AAB5B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1E728-81C7-409D-BC2D-5A8E520C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011D0-5955-4266-92E5-3B5A932A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D. Y. Patil Institute of Technology  |  Internal Quality Assurance Cell (IQAC)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E31DD-34E4-4C89-AF14-00403338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7276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EF3BC5-7824-493E-92CB-A78053143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C17A5-3F90-47DF-8567-4F4A469F3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F2787-FDB5-41B5-8393-21F055B66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F41E4-A022-489A-94B0-DF8C0878C2DA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B5D9C-A462-4CDB-A078-0CF4D2939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0C3EE-5502-424A-BEBA-66773BE14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F6380-853D-47FF-98B7-15E0FE4A7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23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A1F06F-94D1-4E23-BBC4-5292DBDF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F3562-5E3F-4927-843A-20A8225C3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880D9-2A6C-411D-9353-F93C62B80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4A56C-7244-4C5A-AA46-29269BE50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D. Y. Patil Institute of Technology  |  Internal Quality Assurance Cell (IQAC)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67327-659F-462D-8519-25CFDF85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124C6-FD9A-4851-9C21-6B319165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60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9D95A89-50E3-47F5-AABE-789F93EFF7F5}"/>
              </a:ext>
            </a:extLst>
          </p:cNvPr>
          <p:cNvSpPr/>
          <p:nvPr/>
        </p:nvSpPr>
        <p:spPr>
          <a:xfrm>
            <a:off x="-273943" y="3029792"/>
            <a:ext cx="2049061" cy="2315484"/>
          </a:xfrm>
          <a:custGeom>
            <a:avLst/>
            <a:gdLst>
              <a:gd name="connsiteX0" fmla="*/ 0 w 2049061"/>
              <a:gd name="connsiteY0" fmla="*/ 0 h 2315484"/>
              <a:gd name="connsiteX1" fmla="*/ 197274 w 2049061"/>
              <a:gd name="connsiteY1" fmla="*/ 60357 h 2315484"/>
              <a:gd name="connsiteX2" fmla="*/ 1863409 w 2049061"/>
              <a:gd name="connsiteY2" fmla="*/ 1287868 h 2315484"/>
              <a:gd name="connsiteX3" fmla="*/ 2049061 w 2049061"/>
              <a:gd name="connsiteY3" fmla="*/ 1549312 h 2315484"/>
              <a:gd name="connsiteX4" fmla="*/ 1889181 w 2049061"/>
              <a:gd name="connsiteY4" fmla="*/ 1646119 h 2315484"/>
              <a:gd name="connsiteX5" fmla="*/ 202537 w 2049061"/>
              <a:gd name="connsiteY5" fmla="*/ 2281535 h 2315484"/>
              <a:gd name="connsiteX6" fmla="*/ 0 w 2049061"/>
              <a:gd name="connsiteY6" fmla="*/ 2315484 h 2315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49061" h="2315484">
                <a:moveTo>
                  <a:pt x="0" y="0"/>
                </a:moveTo>
                <a:lnTo>
                  <a:pt x="197274" y="60357"/>
                </a:lnTo>
                <a:cubicBezTo>
                  <a:pt x="854443" y="304111"/>
                  <a:pt x="1428670" y="733131"/>
                  <a:pt x="1863409" y="1287868"/>
                </a:cubicBezTo>
                <a:lnTo>
                  <a:pt x="2049061" y="1549312"/>
                </a:lnTo>
                <a:lnTo>
                  <a:pt x="1889181" y="1646119"/>
                </a:lnTo>
                <a:cubicBezTo>
                  <a:pt x="1369388" y="1943474"/>
                  <a:pt x="802171" y="2160546"/>
                  <a:pt x="202537" y="2281535"/>
                </a:cubicBezTo>
                <a:lnTo>
                  <a:pt x="0" y="2315484"/>
                </a:lnTo>
                <a:close/>
              </a:path>
            </a:pathLst>
          </a:custGeom>
          <a:solidFill>
            <a:srgbClr val="D1A5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C407F6-1EF8-4F98-814D-96809CBD3534}"/>
              </a:ext>
            </a:extLst>
          </p:cNvPr>
          <p:cNvSpPr/>
          <p:nvPr/>
        </p:nvSpPr>
        <p:spPr>
          <a:xfrm>
            <a:off x="-273942" y="0"/>
            <a:ext cx="4915327" cy="4579105"/>
          </a:xfrm>
          <a:custGeom>
            <a:avLst/>
            <a:gdLst>
              <a:gd name="connsiteX0" fmla="*/ 0 w 4915327"/>
              <a:gd name="connsiteY0" fmla="*/ 0 h 4579105"/>
              <a:gd name="connsiteX1" fmla="*/ 4915327 w 4915327"/>
              <a:gd name="connsiteY1" fmla="*/ 0 h 4579105"/>
              <a:gd name="connsiteX2" fmla="*/ 4908991 w 4915327"/>
              <a:gd name="connsiteY2" fmla="*/ 66796 h 4579105"/>
              <a:gd name="connsiteX3" fmla="*/ 2134977 w 4915327"/>
              <a:gd name="connsiteY3" fmla="*/ 4527082 h 4579105"/>
              <a:gd name="connsiteX4" fmla="*/ 2049060 w 4915327"/>
              <a:gd name="connsiteY4" fmla="*/ 4579105 h 4579105"/>
              <a:gd name="connsiteX5" fmla="*/ 1863408 w 4915327"/>
              <a:gd name="connsiteY5" fmla="*/ 4317661 h 4579105"/>
              <a:gd name="connsiteX6" fmla="*/ 197273 w 4915327"/>
              <a:gd name="connsiteY6" fmla="*/ 3090149 h 4579105"/>
              <a:gd name="connsiteX7" fmla="*/ 0 w 4915327"/>
              <a:gd name="connsiteY7" fmla="*/ 3023422 h 4579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15327" h="4579105">
                <a:moveTo>
                  <a:pt x="0" y="0"/>
                </a:moveTo>
                <a:lnTo>
                  <a:pt x="4915327" y="0"/>
                </a:lnTo>
                <a:lnTo>
                  <a:pt x="4908991" y="66796"/>
                </a:lnTo>
                <a:cubicBezTo>
                  <a:pt x="4669208" y="1957902"/>
                  <a:pt x="3617424" y="3578523"/>
                  <a:pt x="2134977" y="4527082"/>
                </a:cubicBezTo>
                <a:lnTo>
                  <a:pt x="2049060" y="4579105"/>
                </a:lnTo>
                <a:lnTo>
                  <a:pt x="1863408" y="4317661"/>
                </a:lnTo>
                <a:cubicBezTo>
                  <a:pt x="1428669" y="3762924"/>
                  <a:pt x="854442" y="3333904"/>
                  <a:pt x="197273" y="3090149"/>
                </a:cubicBezTo>
                <a:lnTo>
                  <a:pt x="0" y="3023422"/>
                </a:lnTo>
                <a:close/>
              </a:path>
            </a:pathLst>
          </a:custGeom>
          <a:solidFill>
            <a:srgbClr val="B22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0452DC0-C0CF-4BD2-8772-CF6FA5E1E1CC}"/>
              </a:ext>
            </a:extLst>
          </p:cNvPr>
          <p:cNvSpPr/>
          <p:nvPr/>
        </p:nvSpPr>
        <p:spPr>
          <a:xfrm>
            <a:off x="-273941" y="4579105"/>
            <a:ext cx="2729407" cy="2315485"/>
          </a:xfrm>
          <a:custGeom>
            <a:avLst/>
            <a:gdLst>
              <a:gd name="connsiteX0" fmla="*/ 2049059 w 2729407"/>
              <a:gd name="connsiteY0" fmla="*/ 0 h 2315485"/>
              <a:gd name="connsiteX1" fmla="*/ 2081724 w 2729407"/>
              <a:gd name="connsiteY1" fmla="*/ 46001 h 2315485"/>
              <a:gd name="connsiteX2" fmla="*/ 2729407 w 2729407"/>
              <a:gd name="connsiteY2" fmla="*/ 2278896 h 2315485"/>
              <a:gd name="connsiteX3" fmla="*/ 2727981 w 2729407"/>
              <a:gd name="connsiteY3" fmla="*/ 2315485 h 2315485"/>
              <a:gd name="connsiteX4" fmla="*/ 0 w 2729407"/>
              <a:gd name="connsiteY4" fmla="*/ 2315485 h 2315485"/>
              <a:gd name="connsiteX5" fmla="*/ 0 w 2729407"/>
              <a:gd name="connsiteY5" fmla="*/ 766172 h 2315485"/>
              <a:gd name="connsiteX6" fmla="*/ 202535 w 2729407"/>
              <a:gd name="connsiteY6" fmla="*/ 732224 h 2315485"/>
              <a:gd name="connsiteX7" fmla="*/ 1889179 w 2729407"/>
              <a:gd name="connsiteY7" fmla="*/ 96807 h 2315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29407" h="2315485">
                <a:moveTo>
                  <a:pt x="2049059" y="0"/>
                </a:moveTo>
                <a:lnTo>
                  <a:pt x="2081724" y="46001"/>
                </a:lnTo>
                <a:cubicBezTo>
                  <a:pt x="2490638" y="683394"/>
                  <a:pt x="2729407" y="1451782"/>
                  <a:pt x="2729407" y="2278896"/>
                </a:cubicBezTo>
                <a:lnTo>
                  <a:pt x="2727981" y="2315485"/>
                </a:lnTo>
                <a:lnTo>
                  <a:pt x="0" y="2315485"/>
                </a:lnTo>
                <a:lnTo>
                  <a:pt x="0" y="766172"/>
                </a:lnTo>
                <a:lnTo>
                  <a:pt x="202535" y="732224"/>
                </a:lnTo>
                <a:cubicBezTo>
                  <a:pt x="802169" y="611235"/>
                  <a:pt x="1369386" y="394162"/>
                  <a:pt x="1889179" y="96807"/>
                </a:cubicBezTo>
                <a:close/>
              </a:path>
            </a:pathLst>
          </a:custGeom>
          <a:solidFill>
            <a:srgbClr val="6B6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5D48681-CF0D-4349-8E18-310086D1391F}"/>
              </a:ext>
            </a:extLst>
          </p:cNvPr>
          <p:cNvSpPr/>
          <p:nvPr/>
        </p:nvSpPr>
        <p:spPr>
          <a:xfrm>
            <a:off x="10735337" y="5168898"/>
            <a:ext cx="1456664" cy="1725692"/>
          </a:xfrm>
          <a:custGeom>
            <a:avLst/>
            <a:gdLst>
              <a:gd name="connsiteX0" fmla="*/ 1456664 w 1456664"/>
              <a:gd name="connsiteY0" fmla="*/ 0 h 1725692"/>
              <a:gd name="connsiteX1" fmla="*/ 1456664 w 1456664"/>
              <a:gd name="connsiteY1" fmla="*/ 1725692 h 1725692"/>
              <a:gd name="connsiteX2" fmla="*/ 0 w 1456664"/>
              <a:gd name="connsiteY2" fmla="*/ 1725692 h 1725692"/>
              <a:gd name="connsiteX3" fmla="*/ 25710 w 1456664"/>
              <a:gd name="connsiteY3" fmla="*/ 1654098 h 1725692"/>
              <a:gd name="connsiteX4" fmla="*/ 1256808 w 1456664"/>
              <a:gd name="connsiteY4" fmla="*/ 121416 h 1725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6664" h="1725692">
                <a:moveTo>
                  <a:pt x="1456664" y="0"/>
                </a:moveTo>
                <a:lnTo>
                  <a:pt x="1456664" y="1725692"/>
                </a:lnTo>
                <a:lnTo>
                  <a:pt x="0" y="1725692"/>
                </a:lnTo>
                <a:lnTo>
                  <a:pt x="25710" y="1654098"/>
                </a:lnTo>
                <a:cubicBezTo>
                  <a:pt x="272959" y="1027077"/>
                  <a:pt x="705916" y="493591"/>
                  <a:pt x="1256808" y="121416"/>
                </a:cubicBezTo>
                <a:close/>
              </a:path>
            </a:pathLst>
          </a:custGeom>
          <a:solidFill>
            <a:srgbClr val="B22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2DD85DD-8C10-430E-8C58-35C02520C113}"/>
              </a:ext>
            </a:extLst>
          </p:cNvPr>
          <p:cNvGrpSpPr/>
          <p:nvPr/>
        </p:nvGrpSpPr>
        <p:grpSpPr>
          <a:xfrm>
            <a:off x="6220047" y="6380581"/>
            <a:ext cx="2661137" cy="307777"/>
            <a:chOff x="6096148" y="6392724"/>
            <a:chExt cx="2661137" cy="30777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D4B9CCD-FED8-4988-A2D6-50446B5C4C54}"/>
                </a:ext>
              </a:extLst>
            </p:cNvPr>
            <p:cNvGrpSpPr/>
            <p:nvPr/>
          </p:nvGrpSpPr>
          <p:grpSpPr>
            <a:xfrm>
              <a:off x="6096148" y="6392724"/>
              <a:ext cx="2614199" cy="307777"/>
              <a:chOff x="6979921" y="6300251"/>
              <a:chExt cx="2614199" cy="307777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1D9C73-32AA-4E1C-969C-77435F024C99}"/>
                  </a:ext>
                </a:extLst>
              </p:cNvPr>
              <p:cNvSpPr txBox="1"/>
              <p:nvPr/>
            </p:nvSpPr>
            <p:spPr>
              <a:xfrm>
                <a:off x="6979921" y="6300251"/>
                <a:ext cx="1935480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B6D71"/>
                    </a:solidFill>
                    <a:effectLst/>
                    <a:uLnTx/>
                    <a:uFillTx/>
                    <a:latin typeface="Metropolis" panose="00000500000000000000" pitchFamily="50" charset="0"/>
                    <a:ea typeface="+mn-ea"/>
                    <a:cs typeface="+mn-cs"/>
                  </a:rPr>
                  <a:t>engg.dypvp.edu.in  |  </a:t>
                </a:r>
                <a:endPara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6B6D71"/>
                  </a:solidFill>
                  <a:effectLst/>
                  <a:uLnTx/>
                  <a:uFillTx/>
                  <a:latin typeface="Metropolis" panose="00000500000000000000" pitchFamily="50" charset="0"/>
                  <a:ea typeface="+mn-ea"/>
                  <a:cs typeface="+mn-cs"/>
                </a:endParaRPr>
              </a:p>
            </p:txBody>
          </p:sp>
          <p:pic>
            <p:nvPicPr>
              <p:cNvPr id="24" name="Graphic 23">
                <a:extLst>
                  <a:ext uri="{FF2B5EF4-FFF2-40B4-BE49-F238E27FC236}">
                    <a16:creationId xmlns:a16="http://schemas.microsoft.com/office/drawing/2014/main" id="{12FAD37C-A1B3-4671-B3C4-269E5C4DB9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61746" t="1" b="-1"/>
              <a:stretch/>
            </p:blipFill>
            <p:spPr>
              <a:xfrm>
                <a:off x="8854440" y="6365638"/>
                <a:ext cx="739680" cy="180975"/>
              </a:xfrm>
              <a:prstGeom prst="rect">
                <a:avLst/>
              </a:prstGeom>
            </p:spPr>
          </p:pic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A72F0EB-D4EF-4CE6-B8E5-8D02FEF09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7604" y="6491853"/>
              <a:ext cx="89681" cy="89681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39A7449-A7C3-D859-EABB-E6CF632D4438}"/>
              </a:ext>
            </a:extLst>
          </p:cNvPr>
          <p:cNvSpPr txBox="1"/>
          <p:nvPr/>
        </p:nvSpPr>
        <p:spPr>
          <a:xfrm>
            <a:off x="3840833" y="2760000"/>
            <a:ext cx="7579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B22B2F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 Project Presentation for the Degree of  Bachelor in Computer  Engineering</a:t>
            </a:r>
            <a:endParaRPr lang="en-IN" altLang="en-US" sz="1600" b="1" dirty="0">
              <a:solidFill>
                <a:srgbClr val="B22B2F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98B55-9F1B-490F-BD8D-D3DD7F2BB38B}"/>
              </a:ext>
            </a:extLst>
          </p:cNvPr>
          <p:cNvSpPr txBox="1"/>
          <p:nvPr/>
        </p:nvSpPr>
        <p:spPr>
          <a:xfrm>
            <a:off x="3942080" y="3150000"/>
            <a:ext cx="729488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+mn-cs"/>
              </a:rPr>
              <a:t>Group Member Name: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+mn-cs"/>
              </a:rPr>
              <a:t>Name: 1) Ajit Paraskar    (Roll No.: BCOC17)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+mn-cs"/>
              </a:rPr>
              <a:t>            2) Harshvardhan Patil    (Roll No.: BCOC32)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+mn-cs"/>
              </a:rPr>
              <a:t>            3) Prathamesh Kumbhar    (Roll No.: BCOC35)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</a:rPr>
              <a:t>            4) Bikram Ghosh    (Roll No.: BCOC47)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+mn-cs"/>
            </a:endParaRPr>
          </a:p>
          <a:p>
            <a:pPr>
              <a:defRPr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GUIDE: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	                        </a:t>
            </a:r>
            <a:b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Name: Prof. Swapnali Gaikwad</a:t>
            </a:r>
          </a:p>
          <a:p>
            <a:pPr>
              <a:defRPr/>
            </a:pPr>
            <a:r>
              <a:rPr lang="en-US" sz="1600" b="1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</a:rPr>
              <a:t>  </a:t>
            </a:r>
            <a:endParaRPr lang="en-US" sz="1600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</a:endParaRPr>
          </a:p>
          <a:p>
            <a:pPr>
              <a:defRPr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</a:rPr>
              <a:t>A.Y 2026-2027</a:t>
            </a:r>
            <a:endParaRPr lang="en-US" sz="2000" b="1" dirty="0">
              <a:solidFill>
                <a:srgbClr val="0065B0"/>
              </a:solidFill>
            </a:endParaRPr>
          </a:p>
          <a:p>
            <a:pPr>
              <a:defRPr/>
            </a:pPr>
            <a:endParaRPr lang="en-IN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A4D27-7367-52DC-6A39-27C755F2F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385" y="57730"/>
            <a:ext cx="7215868" cy="149181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A6B6E8-2FDB-C9B2-4B2F-A000B7A34223}"/>
              </a:ext>
            </a:extLst>
          </p:cNvPr>
          <p:cNvSpPr txBox="1"/>
          <p:nvPr/>
        </p:nvSpPr>
        <p:spPr>
          <a:xfrm>
            <a:off x="4305063" y="1488391"/>
            <a:ext cx="7579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B22B2F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Department of Computer Engineering</a:t>
            </a:r>
            <a:endParaRPr lang="en-IN" altLang="en-US" sz="2400" b="1" dirty="0">
              <a:solidFill>
                <a:srgbClr val="B22B2F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00000" y="1960000"/>
            <a:ext cx="8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22A2E"/>
                </a:solidFill>
                <a:latin typeface="Ebrima"/>
              </a:rPr>
              <a:t>Cortex: An Agentic Retrieval-Augmented Generation System over Live Work Data</a:t>
            </a:r>
          </a:p>
          <a:p>
            <a:pPr algn="ctr"/>
            <a:r>
              <a:rPr sz="1400" b="1" i="0">
                <a:solidFill>
                  <a:srgbClr val="B22A2E"/>
                </a:solidFill>
                <a:latin typeface="Ebrima"/>
              </a:rPr>
              <a:t>with Explainable Memory and Consent-Gated Actions</a:t>
            </a:r>
          </a:p>
        </p:txBody>
      </p:sp>
    </p:spTree>
    <p:extLst>
      <p:ext uri="{BB962C8B-B14F-4D97-AF65-F5344CB8AC3E}">
        <p14:creationId xmlns:p14="http://schemas.microsoft.com/office/powerpoint/2010/main" val="3737368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8C18-7256-446A-A0CE-8658CF6BD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of Contents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EAA44F-03C8-428C-84FF-2D0D39B6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24214-3612-4FED-B51E-4E50A863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0C68E-485F-7501-562C-FE7BB42149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11D6BA-C205-3ADD-B302-B7641BA7BE0A}"/>
              </a:ext>
            </a:extLst>
          </p:cNvPr>
          <p:cNvSpPr txBox="1"/>
          <p:nvPr/>
        </p:nvSpPr>
        <p:spPr>
          <a:xfrm>
            <a:off x="521240" y="951247"/>
            <a:ext cx="49854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400" b="1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  <a:endParaRPr lang="en-US" sz="2400" b="1" dirty="0">
              <a:solidFill>
                <a:schemeClr val="tx1">
                  <a:lumMod val="8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Gap finding from literature review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Motivation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Scope &amp; Objective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System Architecture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Algorithm/Methods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 Requirement Analysis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UML diagram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 Future Work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latin typeface="Times New Roman" pitchFamily="18" charset="0"/>
                <a:cs typeface="Times New Roman" pitchFamily="18" charset="0"/>
              </a:rPr>
              <a:t>Paper Publication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b="1" dirty="0">
              <a:solidFill>
                <a:schemeClr val="tx1">
                  <a:lumMod val="8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70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B339-B8AF-08FB-0C06-CC802CAC5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9920" y="1150000"/>
            <a:ext cx="10723880" cy="30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B22A2E"/>
              </a:buClr>
              <a:buFont typeface="Arial"/>
              <a:buChar char="▪"/>
            </a:pPr>
            <a:r>
              <a:rPr sz="1800" b="1" i="0">
                <a:solidFill>
                  <a:srgbClr val="B22A2E"/>
                </a:solidFill>
                <a:latin typeface="Times New Roman"/>
              </a:rPr>
              <a:t>Problem context:</a:t>
            </a:r>
            <a:r>
              <a:rPr sz="1800" b="0" i="0">
                <a:solidFill>
                  <a:srgbClr val="2B2B2B"/>
                </a:solidFill>
                <a:latin typeface="Times New Roman"/>
              </a:rPr>
              <a:t> work information is spread across Gmail, Calendar, Drive, Notion, Slack, GitHub and the web, and it changes daily.</a:t>
            </a:r>
          </a:p>
          <a:p>
            <a:pPr marL="228600" indent="-228600">
              <a:spcAft>
                <a:spcPts val="800"/>
              </a:spcAft>
              <a:buClr>
                <a:srgbClr val="B22A2E"/>
              </a:buClr>
              <a:buFont typeface="Arial"/>
              <a:buChar char="▪"/>
            </a:pPr>
            <a:r>
              <a:rPr sz="1800" b="1" i="0">
                <a:solidFill>
                  <a:srgbClr val="B22A2E"/>
                </a:solidFill>
                <a:latin typeface="Times New Roman"/>
              </a:rPr>
              <a:t>Classic RAG:</a:t>
            </a:r>
            <a:r>
              <a:rPr sz="1800" b="0" i="0">
                <a:solidFill>
                  <a:srgbClr val="2B2B2B"/>
                </a:solidFill>
                <a:latin typeface="Times New Roman"/>
              </a:rPr>
              <a:t> one similarity search over a static corpus; no multi-hop reasoning, no claim checking, silent conflicts.</a:t>
            </a:r>
          </a:p>
          <a:p>
            <a:pPr marL="228600" indent="-228600">
              <a:spcAft>
                <a:spcPts val="800"/>
              </a:spcAft>
              <a:buClr>
                <a:srgbClr val="B22A2E"/>
              </a:buClr>
              <a:buFont typeface="Arial"/>
              <a:buChar char="▪"/>
            </a:pPr>
            <a:r>
              <a:rPr sz="1800" b="1" i="0">
                <a:solidFill>
                  <a:srgbClr val="B22A2E"/>
                </a:solidFill>
                <a:latin typeface="Times New Roman"/>
              </a:rPr>
              <a:t>Cortex:</a:t>
            </a:r>
            <a:r>
              <a:rPr sz="1800" b="0" i="0">
                <a:solidFill>
                  <a:srgbClr val="2B2B2B"/>
                </a:solidFill>
                <a:latin typeface="Times New Roman"/>
              </a:rPr>
              <a:t> an agentic RAG system that plans sub-questions, searches live sources in parallel and streams an answer in which every factual sentence cites numbered evidence.</a:t>
            </a:r>
          </a:p>
          <a:p>
            <a:pPr marL="228600" indent="-228600">
              <a:spcAft>
                <a:spcPts val="800"/>
              </a:spcAft>
              <a:buClr>
                <a:srgbClr val="B22A2E"/>
              </a:buClr>
              <a:buFont typeface="Arial"/>
              <a:buChar char="▪"/>
            </a:pPr>
            <a:r>
              <a:rPr sz="1800" b="1" i="0">
                <a:solidFill>
                  <a:srgbClr val="B22A2E"/>
                </a:solidFill>
                <a:latin typeface="Times New Roman"/>
              </a:rPr>
              <a:t>Trust features:</a:t>
            </a:r>
            <a:r>
              <a:rPr sz="1800" b="0" i="0">
                <a:solidFill>
                  <a:srgbClr val="2B2B2B"/>
                </a:solidFill>
                <a:latin typeface="Times New Roman"/>
              </a:rPr>
              <a:t> per-claim verification with a groundedness score, cross-source conflict reporting, explainable memory and consent-gated actions.</a:t>
            </a:r>
          </a:p>
          <a:p>
            <a:pPr marL="228600" indent="-228600">
              <a:spcAft>
                <a:spcPts val="800"/>
              </a:spcAft>
              <a:buClr>
                <a:srgbClr val="B22A2E"/>
              </a:buClr>
              <a:buFont typeface="Arial"/>
              <a:buChar char="▪"/>
            </a:pPr>
            <a:r>
              <a:rPr sz="1800" b="1" i="0">
                <a:solidFill>
                  <a:srgbClr val="B22A2E"/>
                </a:solidFill>
                <a:latin typeface="Times New Roman"/>
              </a:rPr>
              <a:t>Cost:</a:t>
            </a:r>
            <a:r>
              <a:rPr sz="1800" b="0" i="0">
                <a:solidFill>
                  <a:srgbClr val="2B2B2B"/>
                </a:solidFill>
                <a:latin typeface="Times New Roman"/>
              </a:rPr>
              <a:t> runs entirely on free-tier LLM services through a failover router.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9920" y="4650000"/>
            <a:ext cx="1180000" cy="62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Understand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69920" y="4960000"/>
            <a:ext cx="150000" cy="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19920" y="4650000"/>
            <a:ext cx="1180000" cy="62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Recall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99920" y="4960000"/>
            <a:ext cx="150000" cy="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49920" y="4650000"/>
            <a:ext cx="1180000" cy="620000"/>
          </a:xfrm>
          <a:prstGeom prst="roundRect">
            <a:avLst>
              <a:gd name="adj" fmla="val 12000"/>
            </a:avLst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29920" y="4960000"/>
            <a:ext cx="150000" cy="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79920" y="4650000"/>
            <a:ext cx="1180000" cy="62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Search</a:t>
            </a:r>
          </a:p>
          <a:p>
            <a:pPr algn="ctr"/>
            <a:r>
              <a:rPr sz="1000" b="0" i="0">
                <a:solidFill>
                  <a:srgbClr val="2B2B2B"/>
                </a:solidFill>
                <a:latin typeface="Times New Roman"/>
              </a:rPr>
              <a:t>(parallel)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9920" y="4960000"/>
            <a:ext cx="150000" cy="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09920" y="4650000"/>
            <a:ext cx="1180000" cy="62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Synthesize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89920" y="4960000"/>
            <a:ext cx="150000" cy="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39920" y="4650000"/>
            <a:ext cx="1180000" cy="620000"/>
          </a:xfrm>
          <a:prstGeom prst="roundRect">
            <a:avLst>
              <a:gd name="adj" fmla="val 12000"/>
            </a:avLst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Verify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19920" y="4960000"/>
            <a:ext cx="150000" cy="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69920" y="4650000"/>
            <a:ext cx="1180000" cy="62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Propose</a:t>
            </a:r>
          </a:p>
          <a:p>
            <a:pPr algn="ctr"/>
            <a:r>
              <a:rPr sz="1000" b="0" i="0">
                <a:solidFill>
                  <a:srgbClr val="2B2B2B"/>
                </a:solidFill>
                <a:latin typeface="Times New Roman"/>
              </a:rPr>
              <a:t>actions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49920" y="4960000"/>
            <a:ext cx="150000" cy="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99920" y="4650000"/>
            <a:ext cx="1180000" cy="62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Remember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" y="5400000"/>
            <a:ext cx="1072388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1">
                <a:solidFill>
                  <a:srgbClr val="6D6E71"/>
                </a:solidFill>
                <a:latin typeface="Times New Roman"/>
              </a:rPr>
              <a:t>Fig. One bounded agent run: at most 5 sub-questions, 18 tool calls, 4 LLM calls (Deep) and a 90 s timeout.</a:t>
            </a:r>
          </a:p>
        </p:txBody>
      </p:sp>
    </p:spTree>
    <p:extLst>
      <p:ext uri="{BB962C8B-B14F-4D97-AF65-F5344CB8AC3E}">
        <p14:creationId xmlns:p14="http://schemas.microsoft.com/office/powerpoint/2010/main" val="4037062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930D5-6F9F-329C-DDF9-E15A4B54A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903D-0590-F77E-35B9-68715CBDC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(1/3)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DABE7-158C-4459-29F5-A3F9F7579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5B154-E81D-0646-79EE-A42A5190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2F540-3E66-F240-EC11-70BBCFBE09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9920" y="1200000"/>
          <a:ext cx="10723879" cy="384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56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5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9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2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Ref.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Work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Key contribution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Limitation for live work data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[1]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Lewis et al., RAG (NeurIPS 2020)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Generator conditioned on top-k passages from a dense index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Single retrieval round over a fixed index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[2]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Yao et al., ReAct (ICLR 2023)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Interleaves reasoning traces with tool actions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Open-ended loop; no claim-level check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[3]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Trivedi et al., IRCoT (ACL 2023)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Retrieval interleaved with chain-of-thought for multi-hop QA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Static corpus; many LLM calls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[4]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Press et al., Self-Ask (EMNLP 2023)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Explicit follow-up sub-questions; compositionality gap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 tool or source governance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[5]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Gandhi et al., GRASP (2026) - base paper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RL policy coordinating semantic search, keyword search and paragraph reading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Needs RL training; benchmark corpora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66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(2/3)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9920" y="1200000"/>
          <a:ext cx="10723879" cy="42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56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5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9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2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Ref.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Work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Key contribution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Limitation for live work data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[6]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Asai et al., Self-RAG (ICLR 2024)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Model retrieves on demand and critiques itself with reflection tokens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Requires fine-tuning the generator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[7]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Yan et al., CRAG (2024)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Evaluator scores retrieved documents; falls back to web search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Trained evaluator; web only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[8]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Jeong et al., Adaptive-RAG (NAACL 2024)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Routes questions by complexity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Trained classifier; no live tools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[9]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Gao et al., ALCE (EMNLP 2023)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Benchmark and metrics for citation recall / precision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Evaluation only, not a system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[10]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Min et al., FActScore (EMNLP 2023)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Fraction of atomic facts supported by a source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Offline scoring; costly per fact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[11]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Packer et al., MemGPT (2023)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OS-style paging of agent memory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Memory is opaque to the user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(3/3)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9920" y="1200000"/>
          <a:ext cx="10723878" cy="45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98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1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0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4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7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Approach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Multi-step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Training-free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Claim check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Live tools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Consent gate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B2B2B"/>
                          </a:solidFill>
                          <a:latin typeface="Times New Roman"/>
                        </a:rPr>
                        <a:t>RAG [1]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B2B2B"/>
                          </a:solidFill>
                          <a:latin typeface="Times New Roman"/>
                        </a:rPr>
                        <a:t>ReAct [2]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B2B2B"/>
                          </a:solidFill>
                          <a:latin typeface="Times New Roman"/>
                        </a:rPr>
                        <a:t>IRCoT [3]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B2B2B"/>
                          </a:solidFill>
                          <a:latin typeface="Times New Roman"/>
                        </a:rPr>
                        <a:t>Self-RAG [6]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Self-critique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B2B2B"/>
                          </a:solidFill>
                          <a:latin typeface="Times New Roman"/>
                        </a:rPr>
                        <a:t>CRAG [7]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Partly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Retrieval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Web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B2B2B"/>
                          </a:solidFill>
                          <a:latin typeface="Times New Roman"/>
                        </a:rPr>
                        <a:t>Adaptive-RAG [8]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Adaptive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B2B2B"/>
                          </a:solidFill>
                          <a:latin typeface="Times New Roman"/>
                        </a:rPr>
                        <a:t>GRASP [5]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 (RL)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Grounded-reading reward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B2B2B"/>
                          </a:solidFill>
                          <a:latin typeface="Times New Roman"/>
                        </a:rPr>
                        <a:t>Cortex (proposed)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B2B2B"/>
                          </a:solidFill>
                          <a:latin typeface="Times New Roman"/>
                        </a:rPr>
                        <a:t>Yes (bounded)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B2B2B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B2B2B"/>
                          </a:solidFill>
                          <a:latin typeface="Times New Roman"/>
                        </a:rPr>
                        <a:t>Per claim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B2B2B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B2B2B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9920" y="5800000"/>
            <a:ext cx="1072388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1">
                <a:solidFill>
                  <a:srgbClr val="6D6E71"/>
                </a:solidFill>
                <a:latin typeface="Times New Roman"/>
              </a:rPr>
              <a:t>Source: literature survey of the project report (Table: comparison of related approaches).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Finding from Literature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9920" y="1170000"/>
            <a:ext cx="5301940" cy="144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9920" y="1170000"/>
            <a:ext cx="90000" cy="1440000"/>
          </a:xfrm>
          <a:prstGeom prst="rect">
            <a:avLst/>
          </a:prstGeom>
          <a:solidFill>
            <a:srgbClr val="B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920" y="1250000"/>
            <a:ext cx="5031940" cy="1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B22A2E"/>
                </a:solidFill>
                <a:latin typeface="Times New Roman"/>
              </a:rPr>
              <a:t>G1. Static corpora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Most RAG methods [1][3][8] retrieve from a fixed, pre-built index, not from live tools that change daily.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1860" y="1170000"/>
            <a:ext cx="5301940" cy="1440000"/>
          </a:xfrm>
          <a:prstGeom prst="roundRect">
            <a:avLst>
              <a:gd name="adj" fmla="val 12000"/>
            </a:avLst>
          </a:prstGeom>
          <a:solidFill>
            <a:srgbClr val="F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51860" y="1170000"/>
            <a:ext cx="90000" cy="1440000"/>
          </a:xfrm>
          <a:prstGeom prst="rect">
            <a:avLst/>
          </a:prstGeom>
          <a:solidFill>
            <a:srgbClr val="B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1860" y="1250000"/>
            <a:ext cx="5031940" cy="1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B22A2E"/>
                </a:solidFill>
                <a:latin typeface="Times New Roman"/>
              </a:rPr>
              <a:t>G2. Training cost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The strongest retrieval policies (GRASP [5], Self-RAG [6], Search-R1 [12]) need RL or fine-tuning, which free-tier APIs do not allow.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920" y="2730000"/>
            <a:ext cx="5301940" cy="144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9920" y="2730000"/>
            <a:ext cx="90000" cy="1440000"/>
          </a:xfrm>
          <a:prstGeom prst="rect">
            <a:avLst/>
          </a:prstGeom>
          <a:solidFill>
            <a:srgbClr val="B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920" y="2810000"/>
            <a:ext cx="5031940" cy="1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B22A2E"/>
                </a:solidFill>
                <a:latin typeface="Times New Roman"/>
              </a:rPr>
              <a:t>G3. No per-claim audit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Attribution is measured offline [9][10]; deployed assistants rarely show which sentence is supported.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1860" y="2730000"/>
            <a:ext cx="5301940" cy="1440000"/>
          </a:xfrm>
          <a:prstGeom prst="roundRect">
            <a:avLst>
              <a:gd name="adj" fmla="val 12000"/>
            </a:avLst>
          </a:prstGeom>
          <a:solidFill>
            <a:srgbClr val="F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51860" y="2730000"/>
            <a:ext cx="90000" cy="1440000"/>
          </a:xfrm>
          <a:prstGeom prst="rect">
            <a:avLst/>
          </a:prstGeom>
          <a:solidFill>
            <a:srgbClr val="B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31860" y="2810000"/>
            <a:ext cx="5031940" cy="1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B22A2E"/>
                </a:solidFill>
                <a:latin typeface="Times New Roman"/>
              </a:rPr>
              <a:t>G4. Silent conflicts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When two sources disagree, systems pick one answer instead of reporting the conflict as a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920" y="4290000"/>
            <a:ext cx="5301940" cy="144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9920" y="4290000"/>
            <a:ext cx="90000" cy="1440000"/>
          </a:xfrm>
          <a:prstGeom prst="rect">
            <a:avLst/>
          </a:prstGeom>
          <a:solidFill>
            <a:srgbClr val="B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920" y="4370000"/>
            <a:ext cx="5031940" cy="1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B22A2E"/>
                </a:solidFill>
                <a:latin typeface="Times New Roman"/>
              </a:rPr>
              <a:t>G5. Opaque memory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Agent memory [11][13] is stored on the user's behalf without visible reason, source, expiry or a forget control.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1860" y="4290000"/>
            <a:ext cx="5301940" cy="1440000"/>
          </a:xfrm>
          <a:prstGeom prst="roundRect">
            <a:avLst>
              <a:gd name="adj" fmla="val 12000"/>
            </a:avLst>
          </a:prstGeom>
          <a:solidFill>
            <a:srgbClr val="F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51860" y="4290000"/>
            <a:ext cx="90000" cy="1440000"/>
          </a:xfrm>
          <a:prstGeom prst="rect">
            <a:avLst/>
          </a:prstGeom>
          <a:solidFill>
            <a:srgbClr val="B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1860" y="4370000"/>
            <a:ext cx="5031940" cy="1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B22A2E"/>
                </a:solidFill>
                <a:latin typeface="Times New Roman"/>
              </a:rPr>
              <a:t>G6. Unsafe actions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Tool-using agents [2][14] can act without per-action approval; MCP widens the attack surface [15].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9920" y="1150000"/>
            <a:ext cx="10723880" cy="49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B22A2E"/>
              </a:buClr>
              <a:buFont typeface="Arial"/>
              <a:buChar char="▪"/>
            </a:pPr>
            <a:r>
              <a:rPr sz="1800" b="1" i="0">
                <a:solidFill>
                  <a:srgbClr val="B22A2E"/>
                </a:solidFill>
                <a:latin typeface="Times New Roman"/>
              </a:rPr>
              <a:t>Fragmented information costs time:</a:t>
            </a:r>
            <a:r>
              <a:rPr sz="1800" b="0" i="0">
                <a:solidFill>
                  <a:srgbClr val="2B2B2B"/>
                </a:solidFill>
                <a:latin typeface="Times New Roman"/>
              </a:rPr>
              <a:t> interaction workers spend about 28% of the week on e-mail and nearly 20% searching for internal information [16].</a:t>
            </a:r>
          </a:p>
          <a:p>
            <a:pPr marL="228600" indent="-228600">
              <a:spcAft>
                <a:spcPts val="1000"/>
              </a:spcAft>
              <a:buClr>
                <a:srgbClr val="B22A2E"/>
              </a:buClr>
              <a:buFont typeface="Arial"/>
              <a:buChar char="▪"/>
            </a:pPr>
            <a:r>
              <a:rPr sz="1800" b="1" i="0">
                <a:solidFill>
                  <a:srgbClr val="B22A2E"/>
                </a:solidFill>
                <a:latin typeface="Times New Roman"/>
              </a:rPr>
              <a:t>Single-shot RAG is not analysis:</a:t>
            </a:r>
            <a:r>
              <a:rPr sz="1800" b="0" i="0">
                <a:solidFill>
                  <a:srgbClr val="2B2B2B"/>
                </a:solidFill>
                <a:latin typeface="Times New Roman"/>
              </a:rPr>
              <a:t> multi-hop questions need several retrieval steps [3][4]; long contexts are used poorly in the middle [17].</a:t>
            </a:r>
          </a:p>
          <a:p>
            <a:pPr marL="228600" indent="-228600">
              <a:spcAft>
                <a:spcPts val="1000"/>
              </a:spcAft>
              <a:buClr>
                <a:srgbClr val="B22A2E"/>
              </a:buClr>
              <a:buFont typeface="Arial"/>
              <a:buChar char="▪"/>
            </a:pPr>
            <a:r>
              <a:rPr sz="1800" b="1" i="0">
                <a:solidFill>
                  <a:srgbClr val="B22A2E"/>
                </a:solidFill>
                <a:latin typeface="Times New Roman"/>
              </a:rPr>
              <a:t>Trust needs evidence:</a:t>
            </a:r>
            <a:r>
              <a:rPr sz="1800" b="0" i="0">
                <a:solidFill>
                  <a:srgbClr val="2B2B2B"/>
                </a:solidFill>
                <a:latin typeface="Times New Roman"/>
              </a:rPr>
              <a:t> attribution can be measured [9][10], so a product can show which claims are supported.</a:t>
            </a:r>
          </a:p>
          <a:p>
            <a:pPr marL="228600" indent="-228600">
              <a:spcAft>
                <a:spcPts val="1000"/>
              </a:spcAft>
              <a:buClr>
                <a:srgbClr val="B22A2E"/>
              </a:buClr>
              <a:buFont typeface="Arial"/>
              <a:buChar char="▪"/>
            </a:pPr>
            <a:r>
              <a:rPr sz="1800" b="1" i="0">
                <a:solidFill>
                  <a:srgbClr val="B22A2E"/>
                </a:solidFill>
                <a:latin typeface="Times New Roman"/>
              </a:rPr>
              <a:t>Agents that act must ask:</a:t>
            </a:r>
            <a:r>
              <a:rPr sz="1800" b="0" i="0">
                <a:solidFill>
                  <a:srgbClr val="2B2B2B"/>
                </a:solidFill>
                <a:latin typeface="Times New Roman"/>
              </a:rPr>
              <a:t> a wrong or injected instruction can send mail or post messages; propose-then-approve is a verifiable safety property.</a:t>
            </a:r>
          </a:p>
          <a:p>
            <a:pPr marL="228600" indent="-228600">
              <a:spcAft>
                <a:spcPts val="1000"/>
              </a:spcAft>
              <a:buClr>
                <a:srgbClr val="B22A2E"/>
              </a:buClr>
              <a:buFont typeface="Arial"/>
              <a:buChar char="▪"/>
            </a:pPr>
            <a:r>
              <a:rPr sz="1800" b="1" i="0">
                <a:solidFill>
                  <a:srgbClr val="B22A2E"/>
                </a:solidFill>
                <a:latin typeface="Times New Roman"/>
              </a:rPr>
              <a:t>Memory should be explainable:</a:t>
            </a:r>
            <a:r>
              <a:rPr sz="1800" b="0" i="0">
                <a:solidFill>
                  <a:srgbClr val="2B2B2B"/>
                </a:solidFill>
                <a:latin typeface="Times New Roman"/>
              </a:rPr>
              <a:t> users should see why something was remembered, where it came from, and be able to forget it.</a:t>
            </a:r>
          </a:p>
          <a:p>
            <a:pPr marL="228600" indent="-228600">
              <a:spcAft>
                <a:spcPts val="1000"/>
              </a:spcAft>
              <a:buClr>
                <a:srgbClr val="B22A2E"/>
              </a:buClr>
              <a:buFont typeface="Arial"/>
              <a:buChar char="▪"/>
            </a:pPr>
            <a:r>
              <a:rPr sz="1800" b="1" i="0">
                <a:solidFill>
                  <a:srgbClr val="B22A2E"/>
                </a:solidFill>
                <a:latin typeface="Times New Roman"/>
              </a:rPr>
              <a:t>Cost:</a:t>
            </a:r>
            <a:r>
              <a:rPr sz="1800" b="0" i="0">
                <a:solidFill>
                  <a:srgbClr val="2B2B2B"/>
                </a:solidFill>
                <a:latin typeface="Times New Roman"/>
              </a:rPr>
              <a:t> students and individual developers cannot pay per-token prices; the design must stay within free tiers.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9920" y="1250000"/>
            <a:ext cx="10723880" cy="27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905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9920" y="1350000"/>
            <a:ext cx="10323880" cy="2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900" b="0" i="1">
                <a:solidFill>
                  <a:srgbClr val="2B2B2B"/>
                </a:solidFill>
                <a:latin typeface="Times New Roman"/>
              </a:rPr>
              <a:t>To design and implement an agentic retrieval-augmented generation system that answers natural-language questions over a user's live, distributed work data by decomposing each question into sub-questions, retrieving evidence from all relevant sources in parallel within fixed budgets, and producing an answer in which every factual claim is cited and verified against its evidence; that surfaces contradictions between sources, states missing information, keeps an explainable user-governed memory, and performs actions only after explicit per-action consent, while running on free-tier language-model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9920" y="4150000"/>
            <a:ext cx="3514626" cy="1300000"/>
          </a:xfrm>
          <a:prstGeom prst="roundRect">
            <a:avLst>
              <a:gd name="adj" fmla="val 12000"/>
            </a:avLst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700" b="1" i="0">
                <a:solidFill>
                  <a:srgbClr val="2B2B2B"/>
                </a:solidFill>
                <a:latin typeface="Times New Roman"/>
              </a:rPr>
              <a:t>Input</a:t>
            </a:r>
          </a:p>
          <a:p>
            <a:pPr algn="ctr"/>
            <a:r>
              <a:rPr sz="1400" b="0" i="0">
                <a:solidFill>
                  <a:srgbClr val="2B2B2B"/>
                </a:solidFill>
                <a:latin typeface="Times New Roman"/>
              </a:rPr>
              <a:t>Question (&lt;= 2000 chars), mode (Fast / Deep), recent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4546" y="4150000"/>
            <a:ext cx="3514626" cy="1300000"/>
          </a:xfrm>
          <a:prstGeom prst="roundRect">
            <a:avLst>
              <a:gd name="adj" fmla="val 12000"/>
            </a:avLst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700" b="1" i="0">
                <a:solidFill>
                  <a:srgbClr val="2B2B2B"/>
                </a:solidFill>
                <a:latin typeface="Times New Roman"/>
              </a:rPr>
              <a:t>Output</a:t>
            </a:r>
          </a:p>
          <a:p>
            <a:pPr algn="ctr"/>
            <a:r>
              <a:rPr sz="1400" b="0" i="0">
                <a:solidFill>
                  <a:srgbClr val="2B2B2B"/>
                </a:solidFill>
                <a:latin typeface="Times New Roman"/>
              </a:rPr>
              <a:t>Streamed cited answer, claim states, groundedness G, conflicts, action proposals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9172" y="4150000"/>
            <a:ext cx="3514626" cy="1300000"/>
          </a:xfrm>
          <a:prstGeom prst="roundRect">
            <a:avLst>
              <a:gd name="adj" fmla="val 12000"/>
            </a:avLst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700" b="1" i="0">
                <a:solidFill>
                  <a:srgbClr val="2B2B2B"/>
                </a:solidFill>
                <a:latin typeface="Times New Roman"/>
              </a:rPr>
              <a:t>Constraint</a:t>
            </a:r>
          </a:p>
          <a:p>
            <a:pPr algn="ctr"/>
            <a:r>
              <a:rPr sz="1400" b="0" i="0">
                <a:solidFill>
                  <a:srgbClr val="2B2B2B"/>
                </a:solidFill>
                <a:latin typeface="Times New Roman"/>
              </a:rPr>
              <a:t>&lt;= 4 LLM calls (Deep), &lt;= 18 tool calls, 90 s per run, zero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&amp; Objective (1/2)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9920" y="1150000"/>
            <a:ext cx="10723880" cy="49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marL="228600" indent="-228600">
              <a:spcAft>
                <a:spcPts val="700"/>
              </a:spcAft>
              <a:buClr>
                <a:srgbClr val="B22A2E"/>
              </a:buClr>
              <a:buFont typeface="Arial"/>
              <a:buChar char="▪"/>
            </a:pPr>
            <a:r>
              <a:rPr sz="1700" b="0" i="0">
                <a:solidFill>
                  <a:srgbClr val="2B2B2B"/>
                </a:solidFill>
                <a:latin typeface="Times New Roman"/>
              </a:rPr>
              <a:t>Answer multi-part questions over several live sources with a bounded plan of sub-questions and parallel retrieval.</a:t>
            </a:r>
          </a:p>
          <a:p>
            <a:pPr marL="228600" indent="-228600">
              <a:spcAft>
                <a:spcPts val="700"/>
              </a:spcAft>
              <a:buClr>
                <a:srgbClr val="B22A2E"/>
              </a:buClr>
              <a:buFont typeface="Arial"/>
              <a:buChar char="▪"/>
            </a:pPr>
            <a:r>
              <a:rPr sz="1700" b="0" i="0">
                <a:solidFill>
                  <a:srgbClr val="2B2B2B"/>
                </a:solidFill>
                <a:latin typeface="Times New Roman"/>
              </a:rPr>
              <a:t>Cite every factual sentence, verify each claim against its evidence and report a groundedness score.</a:t>
            </a:r>
          </a:p>
          <a:p>
            <a:pPr marL="228600" indent="-228600">
              <a:spcAft>
                <a:spcPts val="700"/>
              </a:spcAft>
              <a:buClr>
                <a:srgbClr val="B22A2E"/>
              </a:buClr>
              <a:buFont typeface="Arial"/>
              <a:buChar char="▪"/>
            </a:pPr>
            <a:r>
              <a:rPr sz="1700" b="0" i="0">
                <a:solidFill>
                  <a:srgbClr val="2B2B2B"/>
                </a:solidFill>
                <a:latin typeface="Times New Roman"/>
              </a:rPr>
              <a:t>Surface cross-source contradictions with both citations; state missing information instead of guessing.</a:t>
            </a:r>
          </a:p>
          <a:p>
            <a:pPr marL="228600" indent="-228600">
              <a:spcAft>
                <a:spcPts val="700"/>
              </a:spcAft>
              <a:buClr>
                <a:srgbClr val="B22A2E"/>
              </a:buClr>
              <a:buFont typeface="Arial"/>
              <a:buChar char="▪"/>
            </a:pPr>
            <a:r>
              <a:rPr sz="1700" b="0" i="0">
                <a:solidFill>
                  <a:srgbClr val="2B2B2B"/>
                </a:solidFill>
                <a:latin typeface="Times New Roman"/>
              </a:rPr>
              <a:t>Never execute an action without an explicit, single-use approval of an exact preview.</a:t>
            </a:r>
          </a:p>
          <a:p>
            <a:pPr marL="228600" indent="-228600">
              <a:spcAft>
                <a:spcPts val="700"/>
              </a:spcAft>
              <a:buClr>
                <a:srgbClr val="B22A2E"/>
              </a:buClr>
              <a:buFont typeface="Arial"/>
              <a:buChar char="▪"/>
            </a:pPr>
            <a:r>
              <a:rPr sz="1700" b="0" i="0">
                <a:solidFill>
                  <a:srgbClr val="2B2B2B"/>
                </a:solidFill>
                <a:latin typeface="Times New Roman"/>
              </a:rPr>
              <a:t>Keep long-term memory selective and explainable (reason, source, salience, expiry) with pin, edit and forget.</a:t>
            </a:r>
          </a:p>
          <a:p>
            <a:pPr marL="228600" indent="-228600">
              <a:spcAft>
                <a:spcPts val="700"/>
              </a:spcAft>
              <a:buClr>
                <a:srgbClr val="B22A2E"/>
              </a:buClr>
              <a:buFont typeface="Arial"/>
              <a:buChar char="▪"/>
            </a:pPr>
            <a:r>
              <a:rPr sz="1700" b="0" i="0">
                <a:solidFill>
                  <a:srgbClr val="2B2B2B"/>
                </a:solidFill>
                <a:latin typeface="Times New Roman"/>
              </a:rPr>
              <a:t>Degrade gracefully: name any failed source, explain its impact and continue with the rest.</a:t>
            </a:r>
          </a:p>
          <a:p>
            <a:pPr marL="228600" indent="-228600">
              <a:spcAft>
                <a:spcPts val="700"/>
              </a:spcAft>
              <a:buClr>
                <a:srgbClr val="B22A2E"/>
              </a:buClr>
              <a:buFont typeface="Arial"/>
              <a:buChar char="▪"/>
            </a:pPr>
            <a:r>
              <a:rPr sz="1700" b="0" i="0">
                <a:solidFill>
                  <a:srgbClr val="2B2B2B"/>
                </a:solidFill>
                <a:latin typeface="Times New Roman"/>
              </a:rPr>
              <a:t>Keep LLM calls per question small and predictable (Deep &lt;= 4, Fast &lt;= 2) to stay within free tiers.</a:t>
            </a:r>
          </a:p>
          <a:p>
            <a:pPr marL="228600" indent="-228600">
              <a:spcAft>
                <a:spcPts val="700"/>
              </a:spcAft>
              <a:buClr>
                <a:srgbClr val="B22A2E"/>
              </a:buClr>
              <a:buFont typeface="Arial"/>
              <a:buChar char="▪"/>
            </a:pPr>
            <a:r>
              <a:rPr sz="1700" b="0" i="0">
                <a:solidFill>
                  <a:srgbClr val="2B2B2B"/>
                </a:solidFill>
                <a:latin typeface="Times New Roman"/>
              </a:rPr>
              <a:t>Provide an evaluation harness and automated tests for groundedness, citation recall and consent safety.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&amp; Objective (2/2)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9920" y="1150000"/>
            <a:ext cx="5281940" cy="420000"/>
          </a:xfrm>
          <a:prstGeom prst="roundRect">
            <a:avLst>
              <a:gd name="adj" fmla="val 12000"/>
            </a:avLst>
          </a:prstGeom>
          <a:solidFill>
            <a:srgbClr val="B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In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71860" y="1150000"/>
            <a:ext cx="5281940" cy="420000"/>
          </a:xfrm>
          <a:prstGeom prst="roundRect">
            <a:avLst>
              <a:gd name="adj" fmla="val 12000"/>
            </a:avLst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Out of scope (this stage)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920" y="1630000"/>
            <a:ext cx="5281940" cy="3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Web app: Ask with live trace, Daily Brief, Memory inspector, Connections.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Sources: Gmail, Calendar, Drive, Notion, Slack, GitHub (Composio), any MCP server, web (Firecrawl), sample workspace.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Memory service with provenance, decay, expiry, pin / edit / forget.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Consent-gated actions through a single approval endpoint.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Free-tier LLM router with failover, cooldowns and caching.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1860" y="1630000"/>
            <a:ext cx="5281940" cy="3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Copying users' data into an index or warehouse (tools are queried at question time; 90 s cache only).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Training or fine-tuning models.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Autonomous write operations of any kind.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Time-travel (snapshot diff) queries, editable plan, Cortex-as-an-MCP-server (future work).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920" y="4900000"/>
            <a:ext cx="10723880" cy="9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0" i="0">
                <a:solidFill>
                  <a:srgbClr val="2B2B2B"/>
                </a:solidFill>
                <a:latin typeface="Times New Roman"/>
              </a:rPr>
              <a:t>Bounds: question &lt;= 2000 chars | history &lt;= 6 turns | &lt;= 5 sub-questions | &lt;= 18 searches | &lt;= 16 evidence items (Deep) | &lt;= 3 proposals and &lt;= 2 memory writes per 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9920" y="1150000"/>
            <a:ext cx="7000000" cy="560000"/>
          </a:xfrm>
          <a:prstGeom prst="roundRect">
            <a:avLst>
              <a:gd name="adj" fmla="val 12000"/>
            </a:avLst>
          </a:prstGeom>
          <a:solidFill>
            <a:srgbClr val="F1F1F2"/>
          </a:solidFill>
          <a:ln w="12700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500" b="1" i="0">
                <a:solidFill>
                  <a:srgbClr val="2B2B2B"/>
                </a:solidFill>
                <a:latin typeface="Times New Roman"/>
              </a:rPr>
              <a:t>Browser client (React 19)</a:t>
            </a:r>
          </a:p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Ask + live trace  |  Daily Brief  |  Memory inspector  |  Connections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920" y="1980000"/>
            <a:ext cx="7000000" cy="6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500" b="1" i="0">
                <a:solidFill>
                  <a:srgbClr val="2B2B2B"/>
                </a:solidFill>
                <a:latin typeface="Times New Roman"/>
              </a:rPr>
              <a:t>Web server: Next.js 16 route handlers</a:t>
            </a:r>
          </a:p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/api/ask (SSE stream)  |  /api/actions/{id} (only execute path)  |  /api/brief, /api/memory, /api/connections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920" y="2850000"/>
            <a:ext cx="7000000" cy="820000"/>
          </a:xfrm>
          <a:prstGeom prst="roundRect">
            <a:avLst>
              <a:gd name="adj" fmla="val 12000"/>
            </a:avLst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500" b="1" i="0">
                <a:solidFill>
                  <a:srgbClr val="2B2B2B"/>
                </a:solidFill>
                <a:latin typeface="Times New Roman"/>
              </a:rPr>
              <a:t>Agent orchestrator (packages/agent)</a:t>
            </a:r>
          </a:p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understand &gt; recall &gt; plan &gt; search (parallel) &gt; synthesize &gt; verify &gt; propose actions &gt; remember</a:t>
            </a:r>
          </a:p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budgets: steps, tool calls, LLM calls, 90 s timeout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920" y="4000000"/>
            <a:ext cx="2250000" cy="9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2B2B2B"/>
                </a:solidFill>
                <a:latin typeface="Times New Roman"/>
              </a:rPr>
              <a:t>Model router</a:t>
            </a:r>
          </a:p>
          <a:p>
            <a:pPr algn="ctr"/>
            <a:r>
              <a:rPr sz="1100" b="0" i="0">
                <a:solidFill>
                  <a:srgbClr val="2B2B2B"/>
                </a:solidFill>
                <a:latin typeface="Times New Roman"/>
              </a:rPr>
              <a:t>(packages/llm)</a:t>
            </a:r>
          </a:p>
          <a:p>
            <a:pPr algn="ctr"/>
            <a:r>
              <a:rPr sz="1100" b="0" i="0">
                <a:solidFill>
                  <a:srgbClr val="2B2B2B"/>
                </a:solidFill>
                <a:latin typeface="Times New Roman"/>
              </a:rPr>
              <a:t>failover, cooldowns, LRU 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4920" y="4000000"/>
            <a:ext cx="2250000" cy="9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2B2B2B"/>
                </a:solidFill>
                <a:latin typeface="Times New Roman"/>
              </a:rPr>
              <a:t>Connector registry</a:t>
            </a:r>
          </a:p>
          <a:p>
            <a:pPr algn="ctr"/>
            <a:r>
              <a:rPr sz="1100" b="0" i="0">
                <a:solidFill>
                  <a:srgbClr val="2B2B2B"/>
                </a:solidFill>
                <a:latin typeface="Times New Roman"/>
              </a:rPr>
              <a:t>(packages/connectors)</a:t>
            </a:r>
          </a:p>
          <a:p>
            <a:pPr algn="ctr"/>
            <a:r>
              <a:rPr sz="1100" b="0" i="0">
                <a:solidFill>
                  <a:srgbClr val="2B2B2B"/>
                </a:solidFill>
                <a:latin typeface="Times New Roman"/>
              </a:rPr>
              <a:t>Composio, MCP, Firecrawl,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9920" y="4000000"/>
            <a:ext cx="2250000" cy="9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2B2B2B"/>
                </a:solidFill>
                <a:latin typeface="Times New Roman"/>
              </a:rPr>
              <a:t>Memory service</a:t>
            </a:r>
          </a:p>
          <a:p>
            <a:pPr algn="ctr"/>
            <a:r>
              <a:rPr sz="1100" b="0" i="0">
                <a:solidFill>
                  <a:srgbClr val="2B2B2B"/>
                </a:solidFill>
                <a:latin typeface="Times New Roman"/>
              </a:rPr>
              <a:t>(FastAPI, Python)</a:t>
            </a:r>
          </a:p>
          <a:p>
            <a:pPr algn="ctr"/>
            <a:r>
              <a:rPr sz="1100" b="0" i="0">
                <a:solidFill>
                  <a:srgbClr val="2B2B2B"/>
                </a:solidFill>
                <a:latin typeface="Times New Roman"/>
              </a:rPr>
              <a:t>SQLite ledger / Oracle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9920" y="5250000"/>
            <a:ext cx="2250000" cy="7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D6E7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LLM providers</a:t>
            </a:r>
          </a:p>
          <a:p>
            <a:pPr algn="ctr"/>
            <a:r>
              <a:rPr sz="1000" b="0" i="0">
                <a:solidFill>
                  <a:srgbClr val="2B2B2B"/>
                </a:solidFill>
                <a:latin typeface="Times New Roman"/>
              </a:rPr>
              <a:t>Groq &gt; Gemini &gt; Cerebras &gt;</a:t>
            </a:r>
          </a:p>
          <a:p>
            <a:pPr algn="ctr"/>
            <a:r>
              <a:rPr sz="1000" b="0" i="0">
                <a:solidFill>
                  <a:srgbClr val="2B2B2B"/>
                </a:solidFill>
                <a:latin typeface="Times New Roman"/>
              </a:rPr>
              <a:t>OpenRouter &gt; Puter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54920" y="4900000"/>
            <a:ext cx="0" cy="350000"/>
          </a:xfrm>
          <a:prstGeom prst="line">
            <a:avLst/>
          </a:prstGeom>
          <a:ln w="15875">
            <a:solidFill>
              <a:srgbClr val="6D6E71"/>
            </a:solidFill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04920" y="5250000"/>
            <a:ext cx="2250000" cy="7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D6E7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Connected apps</a:t>
            </a:r>
          </a:p>
          <a:p>
            <a:pPr algn="ctr"/>
            <a:r>
              <a:rPr sz="1000" b="0" i="0">
                <a:solidFill>
                  <a:srgbClr val="2B2B2B"/>
                </a:solidFill>
                <a:latin typeface="Times New Roman"/>
              </a:rPr>
              <a:t>Gmail, Calendar, Drive,</a:t>
            </a:r>
          </a:p>
          <a:p>
            <a:pPr algn="ctr"/>
            <a:r>
              <a:rPr sz="1000" b="0" i="0">
                <a:solidFill>
                  <a:srgbClr val="2B2B2B"/>
                </a:solidFill>
                <a:latin typeface="Times New Roman"/>
              </a:rPr>
              <a:t>Notion, Slack, GitHub, Web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29920" y="4900000"/>
            <a:ext cx="0" cy="350000"/>
          </a:xfrm>
          <a:prstGeom prst="line">
            <a:avLst/>
          </a:prstGeom>
          <a:ln w="15875">
            <a:solidFill>
              <a:srgbClr val="6D6E71"/>
            </a:solidFill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79920" y="5250000"/>
            <a:ext cx="2250000" cy="7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D6E7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Oracle AI Database</a:t>
            </a:r>
          </a:p>
          <a:p>
            <a:pPr algn="ctr"/>
            <a:r>
              <a:rPr sz="1000" b="0" i="0">
                <a:solidFill>
                  <a:srgbClr val="2B2B2B"/>
                </a:solidFill>
                <a:latin typeface="Times New Roman"/>
              </a:rPr>
              <a:t>(optional; vector search)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04920" y="4900000"/>
            <a:ext cx="0" cy="350000"/>
          </a:xfrm>
          <a:prstGeom prst="line">
            <a:avLst/>
          </a:prstGeom>
          <a:ln w="15875">
            <a:solidFill>
              <a:srgbClr val="6D6E71"/>
            </a:solidFill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329920" y="1710000"/>
            <a:ext cx="0" cy="270000"/>
          </a:xfrm>
          <a:prstGeom prst="line">
            <a:avLst/>
          </a:prstGeom>
          <a:ln w="15875">
            <a:solidFill>
              <a:srgbClr val="6D6E71"/>
            </a:solidFill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29920" y="2580000"/>
            <a:ext cx="0" cy="270000"/>
          </a:xfrm>
          <a:prstGeom prst="line">
            <a:avLst/>
          </a:prstGeom>
          <a:ln w="15875">
            <a:solidFill>
              <a:srgbClr val="6D6E71"/>
            </a:solidFill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54920" y="3670000"/>
            <a:ext cx="0" cy="33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29920" y="3670000"/>
            <a:ext cx="0" cy="33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704920" y="3670000"/>
            <a:ext cx="0" cy="33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29920" y="1150000"/>
            <a:ext cx="3000000" cy="5050000"/>
          </a:xfrm>
          <a:prstGeom prst="roundRect">
            <a:avLst>
              <a:gd name="adj" fmla="val 12000"/>
            </a:avLst>
          </a:prstGeom>
          <a:solidFill>
            <a:srgbClr val="F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920" y="1210000"/>
            <a:ext cx="2800000" cy="49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B22A2E"/>
                </a:solidFill>
                <a:latin typeface="Times New Roman"/>
              </a:rPr>
              <a:t>Key design decisions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Hand-written orchestrator: explicit branches, bounded loops, predictable LLM calls.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One Connector interface: status, search, execute; new sources by class or MCP config.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Actions stored server-side as proposals; executed only via approval endpoint (single-use, 30 min).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Evidence never stored beyond a 90 s search cache.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Optional LangSmith tracing of runs, LLM calls and searches.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/ Methods (1/2)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9920" y="1150000"/>
          <a:ext cx="10723878" cy="468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86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1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7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Deep mode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Fast mode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LLM calls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Understand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Check which connectors are live; report the ones that are down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same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Search memory; pinned memories always included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same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Fast-tier model writes 2-5 sub-questions, sources, keyword queries, time window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One sub-question over every source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1 / 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Search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All (sub-question x source) pairs in parallel, deduplicated, cached 90 s; one broadened retry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Same, no retry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Synthesize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Strong model, streamed; answer + CONFLICTS / MISSING / ACTIONS / MEMORY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Fast model, shorter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Verify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Lexical claim check; LLM re-check only for doubtful claims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Lexical only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0-1 / 0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Actions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Validated against connector schemas, stored, never executed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same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</a:rPr>
                        <a:t>Remember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Explicit requests + candidates with salience &gt;= 0.6 (max 2)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same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B2B2B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9920" y="5850000"/>
            <a:ext cx="1072388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1">
                <a:solidFill>
                  <a:srgbClr val="6D6E71"/>
                </a:solidFill>
                <a:latin typeface="Times New Roman"/>
              </a:rPr>
              <a:t>If no evidence is found, Cortex says so without any LLM call. Search latency = max over calls, not the sum (12 s timeout, 1 retry per call).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/ Methods (2/2)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9920" y="1150000"/>
            <a:ext cx="2700000" cy="880000"/>
          </a:xfrm>
          <a:prstGeom prst="roundRect">
            <a:avLst>
              <a:gd name="adj" fmla="val 12000"/>
            </a:avLst>
          </a:prstGeom>
          <a:solidFill>
            <a:srgbClr val="B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Evidence ranking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9920" y="1150000"/>
            <a:ext cx="7943880" cy="880000"/>
          </a:xfrm>
          <a:prstGeom prst="roundRect">
            <a:avLst>
              <a:gd name="adj" fmla="val 12000"/>
            </a:avLst>
          </a:prstGeom>
          <a:solidFill>
            <a:srgbClr val="F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l"/>
            <a:r>
              <a:rPr sz="1600" b="0" i="0">
                <a:solidFill>
                  <a:srgbClr val="2B2B2B"/>
                </a:solidFill>
                <a:latin typeface="Times New Roman"/>
              </a:rPr>
              <a:t>score(e) = 2 h(e,q) + max(0, 3 - a(e)/10)</a:t>
            </a:r>
          </a:p>
          <a:p>
            <a:pPr algn="l"/>
            <a:r>
              <a:rPr sz="1300" b="0" i="0">
                <a:solidFill>
                  <a:srgbClr val="2B2B2B"/>
                </a:solidFill>
                <a:latin typeface="Times New Roman"/>
              </a:rPr>
              <a:t>h = question keywords in e;  a = age in days (30 if unknown)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920" y="2140000"/>
            <a:ext cx="2700000" cy="880000"/>
          </a:xfrm>
          <a:prstGeom prst="roundRect">
            <a:avLst>
              <a:gd name="adj" fmla="val 12000"/>
            </a:avLst>
          </a:prstGeom>
          <a:solidFill>
            <a:srgbClr val="B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Claim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9920" y="2140000"/>
            <a:ext cx="7943880" cy="880000"/>
          </a:xfrm>
          <a:prstGeom prst="roundRect">
            <a:avLst>
              <a:gd name="adj" fmla="val 12000"/>
            </a:avLst>
          </a:prstGeom>
          <a:solidFill>
            <a:srgbClr val="F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l"/>
            <a:r>
              <a:rPr sz="1600" b="0" i="0">
                <a:solidFill>
                  <a:srgbClr val="2B2B2B"/>
                </a:solidFill>
                <a:latin typeface="Times New Roman"/>
              </a:rPr>
              <a:t>o(c) = |T(c) n T(E_c)| / |T(c)|</a:t>
            </a:r>
          </a:p>
          <a:p>
            <a:pPr algn="l"/>
            <a:r>
              <a:rPr sz="1300" b="0" i="0">
                <a:solidFill>
                  <a:srgbClr val="2B2B2B"/>
                </a:solidFill>
                <a:latin typeface="Times New Roman"/>
              </a:rPr>
              <a:t>supported: o &gt;= 0.4 and all numbers match;  partial: o &gt;= 0.2;  else unsupported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920" y="3130000"/>
            <a:ext cx="2700000" cy="880000"/>
          </a:xfrm>
          <a:prstGeom prst="roundRect">
            <a:avLst>
              <a:gd name="adj" fmla="val 12000"/>
            </a:avLst>
          </a:prstGeom>
          <a:solidFill>
            <a:srgbClr val="B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Groundedness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9920" y="3130000"/>
            <a:ext cx="7943880" cy="880000"/>
          </a:xfrm>
          <a:prstGeom prst="roundRect">
            <a:avLst>
              <a:gd name="adj" fmla="val 12000"/>
            </a:avLst>
          </a:prstGeom>
          <a:solidFill>
            <a:srgbClr val="F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l"/>
            <a:r>
              <a:rPr sz="1600" b="0" i="0">
                <a:solidFill>
                  <a:srgbClr val="2B2B2B"/>
                </a:solidFill>
                <a:latin typeface="Times New Roman"/>
              </a:rPr>
              <a:t>G = (1/|L|) Sum w(c),   w = 1 / 0.5 / 0   (G = 1 if no claims)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920" y="4120000"/>
            <a:ext cx="2700000" cy="880000"/>
          </a:xfrm>
          <a:prstGeom prst="roundRect">
            <a:avLst>
              <a:gd name="adj" fmla="val 12000"/>
            </a:avLst>
          </a:prstGeom>
          <a:solidFill>
            <a:srgbClr val="B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Memory salience decay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9920" y="4120000"/>
            <a:ext cx="7943880" cy="880000"/>
          </a:xfrm>
          <a:prstGeom prst="roundRect">
            <a:avLst>
              <a:gd name="adj" fmla="val 12000"/>
            </a:avLst>
          </a:prstGeom>
          <a:solidFill>
            <a:srgbClr val="F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l"/>
            <a:r>
              <a:rPr sz="1600" b="0" i="0">
                <a:solidFill>
                  <a:srgbClr val="2B2B2B"/>
                </a:solidFill>
                <a:latin typeface="Times New Roman"/>
              </a:rPr>
              <a:t>s_eff = s x 0.5^(t/30)  for unpinned memories;  TTL: priority 45 d, fact 90 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920" y="5110000"/>
            <a:ext cx="2700000" cy="880000"/>
          </a:xfrm>
          <a:prstGeom prst="roundRect">
            <a:avLst>
              <a:gd name="adj" fmla="val 12000"/>
            </a:avLst>
          </a:prstGeom>
          <a:solidFill>
            <a:srgbClr val="B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LLM router failover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9920" y="5110000"/>
            <a:ext cx="7943880" cy="880000"/>
          </a:xfrm>
          <a:prstGeom prst="roundRect">
            <a:avLst>
              <a:gd name="adj" fmla="val 12000"/>
            </a:avLst>
          </a:prstGeom>
          <a:solidFill>
            <a:srgbClr val="F1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l"/>
            <a:r>
              <a:rPr sz="1600" b="0" i="0">
                <a:solidFill>
                  <a:srgbClr val="2B2B2B"/>
                </a:solidFill>
                <a:latin typeface="Times New Roman"/>
              </a:rPr>
              <a:t>Groq &gt; Gemini &gt; Cerebras &gt; OpenRouter &gt; Puter;  cooldown on 429 (retry-after or 60 s), bad key 10 min, no credit 1 h;  6 h response cache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(1/2)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9920" y="1150000"/>
            <a:ext cx="5281940" cy="420000"/>
          </a:xfrm>
          <a:prstGeom prst="roundRect">
            <a:avLst>
              <a:gd name="adj" fmla="val 12000"/>
            </a:avLst>
          </a:prstGeom>
          <a:solidFill>
            <a:srgbClr val="B2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Functional requirements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71860" y="1150000"/>
            <a:ext cx="5281940" cy="420000"/>
          </a:xfrm>
          <a:prstGeom prst="roundRect">
            <a:avLst>
              <a:gd name="adj" fmla="val 12000"/>
            </a:avLst>
          </a:prstGeom>
          <a:solidFill>
            <a:srgbClr val="D0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Non-functional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920" y="1620000"/>
            <a:ext cx="5281940" cy="4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FR1: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ask a question; plan, search and stream a cited answer</a:t>
            </a:r>
          </a:p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FR2: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choose Fast or Deep mode</a:t>
            </a:r>
          </a:p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FR3: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inspect trace, plan, tool calls and evidence</a:t>
            </a:r>
          </a:p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FR4: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approve, edit or decline a proposed action</a:t>
            </a:r>
          </a:p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FR5: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read the Daily Brief (changed, at risk, conflicts, upcoming)</a:t>
            </a:r>
          </a:p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FR6: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teach, pin, edit or forget memories</a:t>
            </a:r>
          </a:p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FR7: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connect an app (OAuth) or use the sample workspace</a:t>
            </a:r>
          </a:p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FR8: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add an MCP server through configuration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1860" y="1620000"/>
            <a:ext cx="5281940" cy="4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Performance: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streaming starts within seconds; 12 s per connector call, 25 s per model request, 90 s per run</a:t>
            </a:r>
          </a:p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Availability: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provider failover; failed sources skipped and reported; SQLite fallback for memory</a:t>
            </a:r>
          </a:p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Security: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single approval path; OAuth tokens never reach the browser; HTTP-only cookie</a:t>
            </a:r>
          </a:p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Modifiability: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new source = one class or one MCP config entry</a:t>
            </a:r>
          </a:p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Testability: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dependencies injected; 18 automated tests; evaluation harness</a:t>
            </a:r>
          </a:p>
          <a:p>
            <a:pPr marL="228600" indent="-228600">
              <a:spcAft>
                <a:spcPts val="5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Usability: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plain-language errors; claims visually marked by verification state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(2/2)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9920" y="1150000"/>
          <a:ext cx="5261939" cy="2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3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Parameter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Minimum requirement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Times New Roman"/>
                        </a:rPr>
                        <a:t>CPU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Times New Roman"/>
                        </a:rPr>
                        <a:t>2 GHz, dual 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Times New Roman"/>
                        </a:rPr>
                        <a:t>RAM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B2B2B"/>
                          </a:solidFill>
                          <a:latin typeface="Times New Roman"/>
                        </a:rPr>
                        <a:t>8 GB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Times New Roman"/>
                        </a:rPr>
                        <a:t>Storage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B2B2B"/>
                          </a:solidFill>
                          <a:latin typeface="Times New Roman"/>
                        </a:rPr>
                        <a:t>5 GB free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Times New Roman"/>
                        </a:rPr>
                        <a:t>Network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Times New Roman"/>
                        </a:rPr>
                        <a:t>Broadband Internet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9920" y="3850000"/>
            <a:ext cx="1072388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1">
                <a:solidFill>
                  <a:srgbClr val="6D6E71"/>
                </a:solidFill>
                <a:latin typeface="Times New Roman"/>
              </a:rPr>
              <a:t>Model inference runs at the providers, so no GPU is needed.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1860" y="1150000"/>
          <a:ext cx="5261939" cy="45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48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Choice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Windows 10/11, Linux or macOS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Languages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TypeScript (Node.js 24+), Python 3.11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Web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Next.js 16, React 19, Tailwind CSS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Agent / tools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Zod, Composio SDK, MCP SDK, Firecrawl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FastAPI, SQLite; Oracle Agent Memory (optional)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LLMs (free tier)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Groq, Gemini, Cerebras, OpenRouter, Puter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Testing / tracing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Vitest, LangSmith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IDE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Visual Studio Code, Git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Diagram: Use Case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29920" y="1150000"/>
            <a:ext cx="6900000" cy="5000000"/>
          </a:xfrm>
          <a:prstGeom prst="rect">
            <a:avLst/>
          </a:prstGeom>
          <a:solidFill>
            <a:srgbClr val="F1F1F2"/>
          </a:solidFill>
          <a:ln w="12700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29920" y="1170000"/>
            <a:ext cx="690000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Times New Roman"/>
              </a:rPr>
              <a:t>Cortex</a:t>
            </a:r>
          </a:p>
        </p:txBody>
      </p:sp>
      <p:sp>
        <p:nvSpPr>
          <p:cNvPr id="8" name="Oval 7"/>
          <p:cNvSpPr/>
          <p:nvPr/>
        </p:nvSpPr>
        <p:spPr>
          <a:xfrm>
            <a:off x="2779920" y="1530000"/>
            <a:ext cx="2700000" cy="5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Ask a question</a:t>
            </a:r>
          </a:p>
        </p:txBody>
      </p:sp>
      <p:sp>
        <p:nvSpPr>
          <p:cNvPr id="9" name="Oval 8"/>
          <p:cNvSpPr/>
          <p:nvPr/>
        </p:nvSpPr>
        <p:spPr>
          <a:xfrm>
            <a:off x="2779920" y="2180000"/>
            <a:ext cx="2700000" cy="5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Choose Fast / Deep mode</a:t>
            </a:r>
          </a:p>
        </p:txBody>
      </p:sp>
      <p:sp>
        <p:nvSpPr>
          <p:cNvPr id="10" name="Oval 9"/>
          <p:cNvSpPr/>
          <p:nvPr/>
        </p:nvSpPr>
        <p:spPr>
          <a:xfrm>
            <a:off x="2779920" y="2830000"/>
            <a:ext cx="2700000" cy="5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Inspect trace and evidence</a:t>
            </a:r>
          </a:p>
        </p:txBody>
      </p:sp>
      <p:sp>
        <p:nvSpPr>
          <p:cNvPr id="11" name="Oval 10"/>
          <p:cNvSpPr/>
          <p:nvPr/>
        </p:nvSpPr>
        <p:spPr>
          <a:xfrm>
            <a:off x="2779920" y="3480000"/>
            <a:ext cx="2700000" cy="5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Approve / edit / decline action</a:t>
            </a:r>
          </a:p>
        </p:txBody>
      </p:sp>
      <p:sp>
        <p:nvSpPr>
          <p:cNvPr id="12" name="Oval 11"/>
          <p:cNvSpPr/>
          <p:nvPr/>
        </p:nvSpPr>
        <p:spPr>
          <a:xfrm>
            <a:off x="2779920" y="4130000"/>
            <a:ext cx="2700000" cy="5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Read the Daily Brief</a:t>
            </a:r>
          </a:p>
        </p:txBody>
      </p:sp>
      <p:sp>
        <p:nvSpPr>
          <p:cNvPr id="13" name="Oval 12"/>
          <p:cNvSpPr/>
          <p:nvPr/>
        </p:nvSpPr>
        <p:spPr>
          <a:xfrm>
            <a:off x="2779920" y="4780000"/>
            <a:ext cx="2700000" cy="5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Manage memory</a:t>
            </a:r>
          </a:p>
        </p:txBody>
      </p:sp>
      <p:sp>
        <p:nvSpPr>
          <p:cNvPr id="14" name="Oval 13"/>
          <p:cNvSpPr/>
          <p:nvPr/>
        </p:nvSpPr>
        <p:spPr>
          <a:xfrm>
            <a:off x="2779920" y="5430000"/>
            <a:ext cx="2700000" cy="5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Connect app / choose workspace</a:t>
            </a:r>
          </a:p>
        </p:txBody>
      </p:sp>
      <p:sp>
        <p:nvSpPr>
          <p:cNvPr id="15" name="Oval 14"/>
          <p:cNvSpPr/>
          <p:nvPr/>
        </p:nvSpPr>
        <p:spPr>
          <a:xfrm>
            <a:off x="6479920" y="1750000"/>
            <a:ext cx="2700000" cy="5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Search connected sources</a:t>
            </a:r>
          </a:p>
        </p:txBody>
      </p:sp>
      <p:sp>
        <p:nvSpPr>
          <p:cNvPr id="16" name="Oval 15"/>
          <p:cNvSpPr/>
          <p:nvPr/>
        </p:nvSpPr>
        <p:spPr>
          <a:xfrm>
            <a:off x="6479920" y="2900000"/>
            <a:ext cx="2700000" cy="5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Generate and verify answer</a:t>
            </a:r>
          </a:p>
        </p:txBody>
      </p:sp>
      <p:sp>
        <p:nvSpPr>
          <p:cNvPr id="17" name="Oval 16"/>
          <p:cNvSpPr/>
          <p:nvPr/>
        </p:nvSpPr>
        <p:spPr>
          <a:xfrm>
            <a:off x="6479920" y="4050000"/>
            <a:ext cx="2700000" cy="5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Recall and store memory</a:t>
            </a:r>
          </a:p>
        </p:txBody>
      </p:sp>
      <p:sp>
        <p:nvSpPr>
          <p:cNvPr id="18" name="Oval 17"/>
          <p:cNvSpPr/>
          <p:nvPr/>
        </p:nvSpPr>
        <p:spPr>
          <a:xfrm>
            <a:off x="6479920" y="5200000"/>
            <a:ext cx="2700000" cy="5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 i="0">
                <a:solidFill>
                  <a:srgbClr val="2B2B2B"/>
                </a:solidFill>
                <a:latin typeface="Times New Roman"/>
              </a:rPr>
              <a:t>Execute approved action</a:t>
            </a:r>
          </a:p>
        </p:txBody>
      </p:sp>
      <p:sp>
        <p:nvSpPr>
          <p:cNvPr id="19" name="Oval 18"/>
          <p:cNvSpPr/>
          <p:nvPr/>
        </p:nvSpPr>
        <p:spPr>
          <a:xfrm>
            <a:off x="1214920" y="3050000"/>
            <a:ext cx="230000" cy="23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1329920" y="3280000"/>
            <a:ext cx="0" cy="38000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09920" y="3390000"/>
            <a:ext cx="440000" cy="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09920" y="3660000"/>
            <a:ext cx="220000" cy="30000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29920" y="3660000"/>
            <a:ext cx="220000" cy="30000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9920" y="3970000"/>
            <a:ext cx="1600000" cy="4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Times New Roman"/>
              </a:rPr>
              <a:t>User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549920" y="1810000"/>
            <a:ext cx="1230000" cy="1720000"/>
          </a:xfrm>
          <a:prstGeom prst="line">
            <a:avLst/>
          </a:prstGeom>
          <a:ln w="127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549920" y="2460000"/>
            <a:ext cx="1230000" cy="1070000"/>
          </a:xfrm>
          <a:prstGeom prst="line">
            <a:avLst/>
          </a:prstGeom>
          <a:ln w="127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49920" y="3110000"/>
            <a:ext cx="1230000" cy="420000"/>
          </a:xfrm>
          <a:prstGeom prst="line">
            <a:avLst/>
          </a:prstGeom>
          <a:ln w="127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549920" y="3530000"/>
            <a:ext cx="1230000" cy="230000"/>
          </a:xfrm>
          <a:prstGeom prst="line">
            <a:avLst/>
          </a:prstGeom>
          <a:ln w="127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49920" y="3530000"/>
            <a:ext cx="1230000" cy="880000"/>
          </a:xfrm>
          <a:prstGeom prst="line">
            <a:avLst/>
          </a:prstGeom>
          <a:ln w="127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549920" y="3530000"/>
            <a:ext cx="1230000" cy="1530000"/>
          </a:xfrm>
          <a:prstGeom prst="line">
            <a:avLst/>
          </a:prstGeom>
          <a:ln w="127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549920" y="3530000"/>
            <a:ext cx="1230000" cy="2180000"/>
          </a:xfrm>
          <a:prstGeom prst="line">
            <a:avLst/>
          </a:prstGeom>
          <a:ln w="127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79920" y="1810000"/>
            <a:ext cx="1000000" cy="220000"/>
          </a:xfrm>
          <a:prstGeom prst="line">
            <a:avLst/>
          </a:prstGeom>
          <a:ln w="12700">
            <a:solidFill>
              <a:srgbClr val="6D6E71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479920" y="1810000"/>
            <a:ext cx="1000000" cy="1370000"/>
          </a:xfrm>
          <a:prstGeom prst="line">
            <a:avLst/>
          </a:prstGeom>
          <a:ln w="12700">
            <a:solidFill>
              <a:srgbClr val="6D6E71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479920" y="1810000"/>
            <a:ext cx="1000000" cy="2520000"/>
          </a:xfrm>
          <a:prstGeom prst="line">
            <a:avLst/>
          </a:prstGeom>
          <a:ln w="12700">
            <a:solidFill>
              <a:srgbClr val="6D6E71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79920" y="3760000"/>
            <a:ext cx="1000000" cy="1720000"/>
          </a:xfrm>
          <a:prstGeom prst="line">
            <a:avLst/>
          </a:prstGeom>
          <a:ln w="12700">
            <a:solidFill>
              <a:srgbClr val="6D6E71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479920" y="3180000"/>
            <a:ext cx="1000000" cy="1230000"/>
          </a:xfrm>
          <a:prstGeom prst="line">
            <a:avLst/>
          </a:prstGeom>
          <a:ln w="12700">
            <a:solidFill>
              <a:srgbClr val="6D6E71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29920" y="1650000"/>
            <a:ext cx="1100000" cy="2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1">
                <a:solidFill>
                  <a:srgbClr val="6D6E71"/>
                </a:solidFill>
                <a:latin typeface="Times New Roman"/>
              </a:rPr>
              <a:t>&lt;&lt;include&gt;&gt;</a:t>
            </a:r>
          </a:p>
        </p:txBody>
      </p:sp>
      <p:sp>
        <p:nvSpPr>
          <p:cNvPr id="38" name="Oval 37"/>
          <p:cNvSpPr/>
          <p:nvPr/>
        </p:nvSpPr>
        <p:spPr>
          <a:xfrm>
            <a:off x="10611800" y="1300000"/>
            <a:ext cx="184000" cy="18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10703800" y="1484000"/>
            <a:ext cx="0" cy="30400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527800" y="1572000"/>
            <a:ext cx="352000" cy="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0527800" y="1788000"/>
            <a:ext cx="176000" cy="24000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703800" y="1788000"/>
            <a:ext cx="176000" cy="24000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903800" y="2038000"/>
            <a:ext cx="1600000" cy="4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Connected apps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179920" y="1684000"/>
            <a:ext cx="1323880" cy="346000"/>
          </a:xfrm>
          <a:prstGeom prst="line">
            <a:avLst/>
          </a:prstGeom>
          <a:ln w="127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179920" y="1684000"/>
            <a:ext cx="1323880" cy="3796000"/>
          </a:xfrm>
          <a:prstGeom prst="line">
            <a:avLst/>
          </a:prstGeom>
          <a:ln w="127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611800" y="2950000"/>
            <a:ext cx="184000" cy="18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>
            <a:off x="10703800" y="3134000"/>
            <a:ext cx="0" cy="30400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527800" y="3222000"/>
            <a:ext cx="352000" cy="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0527800" y="3438000"/>
            <a:ext cx="176000" cy="24000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703800" y="3438000"/>
            <a:ext cx="176000" cy="24000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903800" y="3688000"/>
            <a:ext cx="1600000" cy="4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Model providers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79920" y="3180000"/>
            <a:ext cx="1323880" cy="154000"/>
          </a:xfrm>
          <a:prstGeom prst="line">
            <a:avLst/>
          </a:prstGeom>
          <a:ln w="127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0611800" y="4600000"/>
            <a:ext cx="184000" cy="18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Connector 53"/>
          <p:cNvCxnSpPr/>
          <p:nvPr/>
        </p:nvCxnSpPr>
        <p:spPr>
          <a:xfrm>
            <a:off x="10703800" y="4784000"/>
            <a:ext cx="0" cy="30400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527800" y="4872000"/>
            <a:ext cx="352000" cy="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0527800" y="5088000"/>
            <a:ext cx="176000" cy="24000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03800" y="5088000"/>
            <a:ext cx="176000" cy="24000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903800" y="5338000"/>
            <a:ext cx="1600000" cy="4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Memory service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179920" y="4330000"/>
            <a:ext cx="1323880" cy="654000"/>
          </a:xfrm>
          <a:prstGeom prst="line">
            <a:avLst/>
          </a:prstGeom>
          <a:ln w="127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479920" y="4330000"/>
            <a:ext cx="1000000" cy="730000"/>
          </a:xfrm>
          <a:prstGeom prst="line">
            <a:avLst/>
          </a:prstGeom>
          <a:ln w="127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Diagram: Class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18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9920" y="1150000"/>
            <a:ext cx="2450000" cy="300000"/>
          </a:xfrm>
          <a:prstGeom prst="rect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AgentDeps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920" y="1450000"/>
            <a:ext cx="2450000" cy="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920" y="1460000"/>
            <a:ext cx="2410000" cy="76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+llm: LlmRouter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+registry: ConnectorRegistry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+memory: MemoryBackend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+actions: ActionStore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920" y="2210000"/>
            <a:ext cx="2450000" cy="4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920" y="2220000"/>
            <a:ext cx="2410000" cy="41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runAgent(input, deps)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runBrief(deps, userId)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9920" y="1150000"/>
            <a:ext cx="2450000" cy="300000"/>
          </a:xfrm>
          <a:prstGeom prst="rect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LlmRouter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9920" y="1450000"/>
            <a:ext cx="245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99920" y="1460000"/>
            <a:ext cx="2410000" cy="585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-providers: ProviderConfig[]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-health: Map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-cache: TtlCache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9920" y="2035000"/>
            <a:ext cx="245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99920" y="2045000"/>
            <a:ext cx="2410000" cy="585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+complete(opts)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+json(opts, validate)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+stream(opts)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9920" y="1150000"/>
            <a:ext cx="2450000" cy="300000"/>
          </a:xfrm>
          <a:prstGeom prst="rect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ConnectorRegistry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9920" y="1450000"/>
            <a:ext cx="2450000" cy="4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49920" y="1460000"/>
            <a:ext cx="2410000" cy="41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-connectors: Map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-cache: TtlCache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9920" y="1860000"/>
            <a:ext cx="245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49920" y="1870000"/>
            <a:ext cx="2410000" cy="585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+register(c)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+statuses(ctx)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+safeSearch(id, input, ctx)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79920" y="1150000"/>
            <a:ext cx="2400000" cy="300000"/>
          </a:xfrm>
          <a:prstGeom prst="rect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ActionStore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79920" y="1450000"/>
            <a:ext cx="2400000" cy="2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99920" y="1460000"/>
            <a:ext cx="2360000" cy="235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-items: Map (30 min TTL)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79920" y="1685000"/>
            <a:ext cx="2400000" cy="4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99920" y="1695000"/>
            <a:ext cx="2360000" cy="41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+propose(user, registry, raw)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+decide(user, id, decision)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920" y="3800000"/>
            <a:ext cx="2450000" cy="470000"/>
          </a:xfrm>
          <a:prstGeom prst="rect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0" i="0">
                <a:solidFill>
                  <a:srgbClr val="2B2B2B"/>
                </a:solidFill>
                <a:latin typeface="Times New Roman"/>
              </a:rPr>
              <a:t>&lt;&lt;interface&gt;&gt;</a:t>
            </a:r>
          </a:p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MemoryBackend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920" y="4270000"/>
            <a:ext cx="2450000" cy="2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920" y="4280000"/>
            <a:ext cx="2410000" cy="235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9920" y="4505000"/>
            <a:ext cx="245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920" y="4515000"/>
            <a:ext cx="2410000" cy="585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+recall(user, query, n)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+add(m)  +list(user)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+update  +remove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9920" y="3700000"/>
            <a:ext cx="2450000" cy="470000"/>
          </a:xfrm>
          <a:prstGeom prst="rect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0" i="0">
                <a:solidFill>
                  <a:srgbClr val="2B2B2B"/>
                </a:solidFill>
                <a:latin typeface="Times New Roman"/>
              </a:rPr>
              <a:t>&lt;&lt;interface&gt;&gt;</a:t>
            </a:r>
          </a:p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Connector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9920" y="4170000"/>
            <a:ext cx="2450000" cy="4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49920" y="4180000"/>
            <a:ext cx="2410000" cy="41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+id, name, kind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+actions: ActionDef[]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9920" y="4580000"/>
            <a:ext cx="245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49920" y="4590000"/>
            <a:ext cx="2410000" cy="585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+status(ctx)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+search(input, ctx)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+execute(action, args, ctx)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79920" y="3800000"/>
            <a:ext cx="2150000" cy="300000"/>
          </a:xfrm>
          <a:prstGeom prst="rect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MemoryClient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79920" y="4100000"/>
            <a:ext cx="2150000" cy="4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99920" y="4110000"/>
            <a:ext cx="2110000" cy="41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-baseUrl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-timeoutMs = 5000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79920" y="4510000"/>
            <a:ext cx="2150000" cy="2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99920" y="4520000"/>
            <a:ext cx="2110000" cy="235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HTTP client to FastAPI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9920" y="3500000"/>
            <a:ext cx="2500000" cy="380000"/>
          </a:xfrm>
          <a:prstGeom prst="rect">
            <a:avLst/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ComposioConnector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8579920" y="3690000"/>
            <a:ext cx="200000" cy="710000"/>
          </a:xfrm>
          <a:prstGeom prst="line">
            <a:avLst/>
          </a:prstGeom>
          <a:ln w="12700">
            <a:solidFill>
              <a:srgbClr val="6D6E7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8779920" y="4020000"/>
            <a:ext cx="2500000" cy="380000"/>
          </a:xfrm>
          <a:prstGeom prst="rect">
            <a:avLst/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McpConnector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8579920" y="4210000"/>
            <a:ext cx="200000" cy="190000"/>
          </a:xfrm>
          <a:prstGeom prst="line">
            <a:avLst/>
          </a:prstGeom>
          <a:ln w="12700">
            <a:solidFill>
              <a:srgbClr val="6D6E7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779920" y="4540000"/>
            <a:ext cx="2500000" cy="380000"/>
          </a:xfrm>
          <a:prstGeom prst="rect">
            <a:avLst/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FirecrawlConnector</a:t>
            </a:r>
          </a:p>
        </p:txBody>
      </p:sp>
      <p:cxnSp>
        <p:nvCxnSpPr>
          <p:cNvPr id="46" name="Connector 45"/>
          <p:cNvCxnSpPr/>
          <p:nvPr/>
        </p:nvCxnSpPr>
        <p:spPr>
          <a:xfrm flipH="1" flipV="1">
            <a:off x="8579920" y="4400000"/>
            <a:ext cx="200000" cy="330000"/>
          </a:xfrm>
          <a:prstGeom prst="line">
            <a:avLst/>
          </a:prstGeom>
          <a:ln w="12700">
            <a:solidFill>
              <a:srgbClr val="6D6E7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779920" y="5060000"/>
            <a:ext cx="2500000" cy="380000"/>
          </a:xfrm>
          <a:prstGeom prst="rect">
            <a:avLst/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DemoConnector</a:t>
            </a:r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8579920" y="4400000"/>
            <a:ext cx="200000" cy="850000"/>
          </a:xfrm>
          <a:prstGeom prst="line">
            <a:avLst/>
          </a:prstGeom>
          <a:ln w="12700">
            <a:solidFill>
              <a:srgbClr val="6D6E7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9920" y="1600000"/>
            <a:ext cx="300000" cy="0"/>
          </a:xfrm>
          <a:prstGeom prst="line">
            <a:avLst/>
          </a:prstGeom>
          <a:ln w="15875">
            <a:solidFill>
              <a:srgbClr val="2B2B2B"/>
            </a:solidFill>
            <a:head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54920" y="2620000"/>
            <a:ext cx="0" cy="1180000"/>
          </a:xfrm>
          <a:prstGeom prst="line">
            <a:avLst/>
          </a:prstGeom>
          <a:ln w="15875">
            <a:solidFill>
              <a:srgbClr val="2B2B2B"/>
            </a:solidFill>
            <a:head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879920" y="2620000"/>
            <a:ext cx="0" cy="480000"/>
          </a:xfrm>
          <a:prstGeom prst="line">
            <a:avLst/>
          </a:prstGeom>
          <a:ln w="15875">
            <a:solidFill>
              <a:srgbClr val="2B2B2B"/>
            </a:solidFill>
            <a:head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79920" y="3100000"/>
            <a:ext cx="7200000" cy="0"/>
          </a:xfrm>
          <a:prstGeom prst="line">
            <a:avLst/>
          </a:prstGeom>
          <a:ln w="15875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079920" y="2095000"/>
            <a:ext cx="0" cy="1005000"/>
          </a:xfrm>
          <a:prstGeom prst="line">
            <a:avLst/>
          </a:prstGeom>
          <a:ln w="15875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529920" y="2445000"/>
            <a:ext cx="0" cy="655000"/>
          </a:xfrm>
          <a:prstGeom prst="line">
            <a:avLst/>
          </a:prstGeom>
          <a:ln w="15875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654920" y="2445000"/>
            <a:ext cx="0" cy="1255000"/>
          </a:xfrm>
          <a:prstGeom prst="line">
            <a:avLst/>
          </a:prstGeom>
          <a:ln w="15875">
            <a:solidFill>
              <a:srgbClr val="2B2B2B"/>
            </a:solidFill>
            <a:head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684920" y="3400000"/>
            <a:ext cx="400000" cy="2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B2B2B"/>
                </a:solidFill>
                <a:latin typeface="Times New Roman"/>
              </a:rPr>
              <a:t>1..*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3079920" y="4200000"/>
            <a:ext cx="300000" cy="0"/>
          </a:xfrm>
          <a:prstGeom prst="line">
            <a:avLst/>
          </a:prstGeom>
          <a:ln w="12700">
            <a:solidFill>
              <a:srgbClr val="6D6E7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29920" y="6000000"/>
            <a:ext cx="10723880" cy="2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1">
                <a:solidFill>
                  <a:srgbClr val="6D6E71"/>
                </a:solidFill>
                <a:latin typeface="Times New Roman"/>
              </a:rPr>
              <a:t>Diamond: AgentDeps / ConnectorRegistry own the linked objects;  dashed arrow: realizes an interface.  The full two-part class diagram is in the report.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Diagram: Sequence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9920" y="1150000"/>
            <a:ext cx="1700000" cy="400000"/>
          </a:xfrm>
          <a:prstGeom prst="rect">
            <a:avLst/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User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9920" y="1550000"/>
            <a:ext cx="0" cy="4300000"/>
          </a:xfrm>
          <a:prstGeom prst="line">
            <a:avLst/>
          </a:prstGeom>
          <a:ln w="12700">
            <a:solidFill>
              <a:srgbClr val="6D6E7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85890" y="1150000"/>
            <a:ext cx="1700000" cy="400000"/>
          </a:xfrm>
          <a:prstGeom prst="rect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:Web UI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35890" y="1550000"/>
            <a:ext cx="0" cy="4300000"/>
          </a:xfrm>
          <a:prstGeom prst="line">
            <a:avLst/>
          </a:prstGeom>
          <a:ln w="12700">
            <a:solidFill>
              <a:srgbClr val="6D6E7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41860" y="1150000"/>
            <a:ext cx="1700000" cy="400000"/>
          </a:xfrm>
          <a:prstGeom prst="rect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:Agent (runAgent)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91860" y="1550000"/>
            <a:ext cx="0" cy="4300000"/>
          </a:xfrm>
          <a:prstGeom prst="line">
            <a:avLst/>
          </a:prstGeom>
          <a:ln w="12700">
            <a:solidFill>
              <a:srgbClr val="6D6E7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97830" y="1150000"/>
            <a:ext cx="1700000" cy="400000"/>
          </a:xfrm>
          <a:prstGeom prst="rect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:ActionStore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47830" y="1550000"/>
            <a:ext cx="0" cy="4300000"/>
          </a:xfrm>
          <a:prstGeom prst="line">
            <a:avLst/>
          </a:prstGeom>
          <a:ln w="12700">
            <a:solidFill>
              <a:srgbClr val="6D6E7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53800" y="1150000"/>
            <a:ext cx="1700000" cy="400000"/>
          </a:xfrm>
          <a:prstGeom prst="rect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</a:rPr>
              <a:t>:Connector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03800" y="1550000"/>
            <a:ext cx="0" cy="4300000"/>
          </a:xfrm>
          <a:prstGeom prst="line">
            <a:avLst/>
          </a:prstGeom>
          <a:ln w="12700">
            <a:solidFill>
              <a:srgbClr val="6D6E7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79920" y="1800000"/>
            <a:ext cx="2255970" cy="0"/>
          </a:xfrm>
          <a:prstGeom prst="line">
            <a:avLst/>
          </a:prstGeom>
          <a:ln w="15875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19920" y="1550000"/>
            <a:ext cx="2215970" cy="24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1: ask(question)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35890" y="2200000"/>
            <a:ext cx="2255970" cy="0"/>
          </a:xfrm>
          <a:prstGeom prst="line">
            <a:avLst/>
          </a:prstGeom>
          <a:ln w="15875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75890" y="1950000"/>
            <a:ext cx="2215970" cy="24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2: POST /api/ask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91860" y="2600000"/>
            <a:ext cx="2255970" cy="0"/>
          </a:xfrm>
          <a:prstGeom prst="line">
            <a:avLst/>
          </a:prstGeom>
          <a:ln w="15875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1860" y="2350000"/>
            <a:ext cx="2215970" cy="24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3: propose(draft)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991860" y="3000000"/>
            <a:ext cx="2255970" cy="0"/>
          </a:xfrm>
          <a:prstGeom prst="line">
            <a:avLst/>
          </a:prstGeom>
          <a:ln w="15875">
            <a:solidFill>
              <a:srgbClr val="6D6E71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31860" y="2750000"/>
            <a:ext cx="2215970" cy="24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4: pending proposal + preview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735890" y="3400000"/>
            <a:ext cx="2255970" cy="0"/>
          </a:xfrm>
          <a:prstGeom prst="line">
            <a:avLst/>
          </a:prstGeom>
          <a:ln w="15875">
            <a:solidFill>
              <a:srgbClr val="6D6E71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75890" y="3150000"/>
            <a:ext cx="2215970" cy="24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5: action_proposal event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79920" y="3800000"/>
            <a:ext cx="2255970" cy="0"/>
          </a:xfrm>
          <a:prstGeom prst="line">
            <a:avLst/>
          </a:prstGeom>
          <a:ln w="15875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519920" y="3550000"/>
            <a:ext cx="2215970" cy="24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6: Approve (optional edits)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35890" y="4200000"/>
            <a:ext cx="4511940" cy="0"/>
          </a:xfrm>
          <a:prstGeom prst="line">
            <a:avLst/>
          </a:prstGeom>
          <a:ln w="15875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775890" y="3950000"/>
            <a:ext cx="4471940" cy="24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7: POST /api/actions/{id} -&gt; decide()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47830" y="4600000"/>
            <a:ext cx="2255970" cy="0"/>
          </a:xfrm>
          <a:prstGeom prst="line">
            <a:avLst/>
          </a:prstGeom>
          <a:ln w="15875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87830" y="4350000"/>
            <a:ext cx="2215970" cy="24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8: execute(action, args)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247830" y="5000000"/>
            <a:ext cx="2255970" cy="0"/>
          </a:xfrm>
          <a:prstGeom prst="line">
            <a:avLst/>
          </a:prstGeom>
          <a:ln w="15875">
            <a:solidFill>
              <a:srgbClr val="6D6E71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87830" y="4750000"/>
            <a:ext cx="2215970" cy="24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9: result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3735890" y="5400000"/>
            <a:ext cx="4511940" cy="0"/>
          </a:xfrm>
          <a:prstGeom prst="line">
            <a:avLst/>
          </a:prstGeom>
          <a:ln w="15875">
            <a:solidFill>
              <a:srgbClr val="6D6E71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775890" y="5150000"/>
            <a:ext cx="4471940" cy="24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10: status = executed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1479920" y="5800000"/>
            <a:ext cx="2255970" cy="0"/>
          </a:xfrm>
          <a:prstGeom prst="line">
            <a:avLst/>
          </a:prstGeom>
          <a:ln w="15875">
            <a:solidFill>
              <a:srgbClr val="6D6E71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519920" y="5550000"/>
            <a:ext cx="2215970" cy="24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Times New Roman"/>
              </a:rPr>
              <a:t>11: show result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1860" y="1800000"/>
            <a:ext cx="1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97830" y="2600000"/>
            <a:ext cx="100000" cy="2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9920" y="5900000"/>
            <a:ext cx="10723880" cy="2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1">
                <a:solidFill>
                  <a:srgbClr val="6D6E71"/>
                </a:solidFill>
                <a:latin typeface="Times New Roman"/>
              </a:rPr>
              <a:t>Only step 7 can call connector.execute; it is single-use, scoped to the proposing user and expires after 30 minutes (HTTP 409 on a second decision).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Diagram: Activity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819920" y="1100000"/>
            <a:ext cx="220000" cy="22000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1929920" y="1320000"/>
            <a:ext cx="0" cy="11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9920" y="1430000"/>
            <a:ext cx="2600000" cy="4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Check source availability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9920" y="1830000"/>
            <a:ext cx="0" cy="13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9920" y="1960000"/>
            <a:ext cx="2600000" cy="4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Recall memories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9920" y="2360000"/>
            <a:ext cx="0" cy="13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9920" y="2490000"/>
            <a:ext cx="2600000" cy="4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Plan sub-questions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9920" y="2890000"/>
            <a:ext cx="0" cy="13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1669920" y="3020000"/>
            <a:ext cx="520000" cy="360000"/>
          </a:xfrm>
          <a:prstGeom prst="diamond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09920" y="3060000"/>
            <a:ext cx="200000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1">
                <a:solidFill>
                  <a:srgbClr val="2B2B2B"/>
                </a:solidFill>
                <a:latin typeface="Times New Roman"/>
              </a:rPr>
              <a:t>any source available?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79920" y="3200000"/>
            <a:ext cx="1090000" cy="0"/>
          </a:xfrm>
          <a:prstGeom prst="line">
            <a:avLst/>
          </a:prstGeom>
          <a:ln w="15875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9920" y="2940000"/>
            <a:ext cx="600000" cy="2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B2B2B"/>
                </a:solidFill>
                <a:latin typeface="Times New Roman"/>
              </a:rPr>
              <a:t>[no]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920" y="3200000"/>
            <a:ext cx="0" cy="52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49920" y="3720000"/>
            <a:ext cx="260000" cy="2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9920" y="3770000"/>
            <a:ext cx="160000" cy="16000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929920" y="3380000"/>
            <a:ext cx="0" cy="14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59920" y="3370000"/>
            <a:ext cx="500000" cy="2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B2B2B"/>
                </a:solidFill>
                <a:latin typeface="Times New Roman"/>
              </a:rPr>
              <a:t>[yes]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9920" y="3520000"/>
            <a:ext cx="2200000" cy="60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1129920" y="3580000"/>
            <a:ext cx="0" cy="14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9920" y="3720000"/>
            <a:ext cx="740000" cy="38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2B2B2B"/>
                </a:solidFill>
                <a:latin typeface="Times New Roman"/>
              </a:rPr>
              <a:t>search</a:t>
            </a:r>
          </a:p>
          <a:p>
            <a:pPr algn="ctr"/>
            <a:r>
              <a:rPr sz="800" b="0" i="0">
                <a:solidFill>
                  <a:srgbClr val="2B2B2B"/>
                </a:solidFill>
                <a:latin typeface="Times New Roman"/>
              </a:rPr>
              <a:t>source 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29920" y="4100000"/>
            <a:ext cx="0" cy="14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29920" y="3580000"/>
            <a:ext cx="0" cy="14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559920" y="3720000"/>
            <a:ext cx="740000" cy="38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2B2B2B"/>
                </a:solidFill>
                <a:latin typeface="Times New Roman"/>
              </a:rPr>
              <a:t>search</a:t>
            </a:r>
          </a:p>
          <a:p>
            <a:pPr algn="ctr"/>
            <a:r>
              <a:rPr sz="800" b="0" i="0">
                <a:solidFill>
                  <a:srgbClr val="2B2B2B"/>
                </a:solidFill>
                <a:latin typeface="Times New Roman"/>
              </a:rPr>
              <a:t>source 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29920" y="4100000"/>
            <a:ext cx="0" cy="14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29920" y="3580000"/>
            <a:ext cx="0" cy="14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359920" y="3720000"/>
            <a:ext cx="740000" cy="38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2B2B2B"/>
                </a:solidFill>
                <a:latin typeface="Times New Roman"/>
              </a:rPr>
              <a:t>search</a:t>
            </a:r>
          </a:p>
          <a:p>
            <a:pPr algn="ctr"/>
            <a:r>
              <a:rPr sz="800" b="0" i="0">
                <a:solidFill>
                  <a:srgbClr val="2B2B2B"/>
                </a:solidFill>
                <a:latin typeface="Times New Roman"/>
              </a:rPr>
              <a:t>source 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29920" y="4100000"/>
            <a:ext cx="0" cy="14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29920" y="4240000"/>
            <a:ext cx="2200000" cy="60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79920" y="3790000"/>
            <a:ext cx="110000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1">
                <a:solidFill>
                  <a:srgbClr val="6D6E71"/>
                </a:solidFill>
                <a:latin typeface="Times New Roman"/>
              </a:rPr>
              <a:t>parallel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29920" y="4300000"/>
            <a:ext cx="0" cy="13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29920" y="4430000"/>
            <a:ext cx="2600000" cy="4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Deduplicate and rank evidence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229920" y="4630000"/>
            <a:ext cx="350000" cy="0"/>
          </a:xfrm>
          <a:prstGeom prst="line">
            <a:avLst/>
          </a:prstGeom>
          <a:ln w="15875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579920" y="1180000"/>
            <a:ext cx="0" cy="3450000"/>
          </a:xfrm>
          <a:prstGeom prst="line">
            <a:avLst/>
          </a:prstGeom>
          <a:ln w="15875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79920" y="1180000"/>
            <a:ext cx="2650000" cy="0"/>
          </a:xfrm>
          <a:prstGeom prst="line">
            <a:avLst/>
          </a:prstGeom>
          <a:ln w="15875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229920" y="1180000"/>
            <a:ext cx="0" cy="12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/>
          <p:cNvSpPr/>
          <p:nvPr/>
        </p:nvSpPr>
        <p:spPr>
          <a:xfrm>
            <a:off x="5969920" y="1300000"/>
            <a:ext cx="520000" cy="360000"/>
          </a:xfrm>
          <a:prstGeom prst="diamond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49920" y="1340000"/>
            <a:ext cx="200000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1">
                <a:solidFill>
                  <a:srgbClr val="2B2B2B"/>
                </a:solidFill>
                <a:latin typeface="Times New Roman"/>
              </a:rPr>
              <a:t>evidence found?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89920" y="1480000"/>
            <a:ext cx="2390000" cy="0"/>
          </a:xfrm>
          <a:prstGeom prst="line">
            <a:avLst/>
          </a:prstGeom>
          <a:ln w="15875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29920" y="1240000"/>
            <a:ext cx="600000" cy="2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B2B2B"/>
                </a:solidFill>
                <a:latin typeface="Times New Roman"/>
              </a:rPr>
              <a:t>[no]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879920" y="1480000"/>
            <a:ext cx="0" cy="34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879920" y="1820000"/>
            <a:ext cx="2000000" cy="4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State 'not found'</a:t>
            </a:r>
          </a:p>
          <a:p>
            <a:pPr algn="ctr"/>
            <a:r>
              <a:rPr sz="900" b="0" i="0">
                <a:solidFill>
                  <a:srgbClr val="2B2B2B"/>
                </a:solidFill>
                <a:latin typeface="Times New Roman"/>
              </a:rPr>
              <a:t>(no LLM call)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79920" y="2220000"/>
            <a:ext cx="0" cy="18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8749920" y="2400000"/>
            <a:ext cx="260000" cy="2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799920" y="2450000"/>
            <a:ext cx="160000" cy="16000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6229920" y="1660000"/>
            <a:ext cx="0" cy="13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59920" y="1630000"/>
            <a:ext cx="500000" cy="2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B2B2B"/>
                </a:solidFill>
                <a:latin typeface="Times New Roman"/>
              </a:rPr>
              <a:t>[yes]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29920" y="1790000"/>
            <a:ext cx="2600000" cy="4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Synthesize cited answer (streamed)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229920" y="2190000"/>
            <a:ext cx="0" cy="13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4929920" y="2320000"/>
            <a:ext cx="2600000" cy="4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Verify claims lexically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229920" y="2720000"/>
            <a:ext cx="0" cy="13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Diamond 55"/>
          <p:cNvSpPr/>
          <p:nvPr/>
        </p:nvSpPr>
        <p:spPr>
          <a:xfrm>
            <a:off x="5969920" y="2850000"/>
            <a:ext cx="520000" cy="360000"/>
          </a:xfrm>
          <a:prstGeom prst="diamond">
            <a:avLst/>
          </a:prstGeom>
          <a:solidFill>
            <a:srgbClr val="F7E4E4"/>
          </a:solidFill>
          <a:ln w="12700">
            <a:solidFill>
              <a:srgbClr val="B2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09920" y="2890000"/>
            <a:ext cx="200000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1">
                <a:solidFill>
                  <a:srgbClr val="2B2B2B"/>
                </a:solidFill>
                <a:latin typeface="Times New Roman"/>
              </a:rPr>
              <a:t>Deep mode and doubtful claims?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4529920" y="3030000"/>
            <a:ext cx="1440000" cy="0"/>
          </a:xfrm>
          <a:prstGeom prst="line">
            <a:avLst/>
          </a:prstGeom>
          <a:ln w="15875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079920" y="2780000"/>
            <a:ext cx="600000" cy="2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B2B2B"/>
                </a:solidFill>
                <a:latin typeface="Times New Roman"/>
              </a:rPr>
              <a:t>[yes]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29920" y="3270000"/>
            <a:ext cx="1400000" cy="4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LLM re-check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529920" y="3030000"/>
            <a:ext cx="0" cy="24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229920" y="3210000"/>
            <a:ext cx="0" cy="59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259920" y="3230000"/>
            <a:ext cx="500000" cy="2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B2B2B"/>
                </a:solidFill>
                <a:latin typeface="Times New Roman"/>
              </a:rPr>
              <a:t>[no]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529920" y="3670000"/>
            <a:ext cx="0" cy="129999"/>
          </a:xfrm>
          <a:prstGeom prst="line">
            <a:avLst/>
          </a:prstGeom>
          <a:ln w="15875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29920" y="3799999"/>
            <a:ext cx="1580000" cy="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4929920" y="3800000"/>
            <a:ext cx="2600000" cy="4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Propose actions (pending, not executed)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229920" y="4200000"/>
            <a:ext cx="0" cy="12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4929920" y="4320000"/>
            <a:ext cx="2600000" cy="4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 i="0">
                <a:solidFill>
                  <a:srgbClr val="2B2B2B"/>
                </a:solidFill>
                <a:latin typeface="Times New Roman"/>
              </a:rPr>
              <a:t>Remember salient facts (&lt;= 2)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229920" y="4720000"/>
            <a:ext cx="0" cy="120000"/>
          </a:xfrm>
          <a:prstGeom prst="line">
            <a:avLst/>
          </a:prstGeom>
          <a:ln w="15875">
            <a:solidFill>
              <a:srgbClr val="6D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6099920" y="4840000"/>
            <a:ext cx="260000" cy="2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149920" y="4890000"/>
            <a:ext cx="160000" cy="16000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21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9920" y="1150000"/>
            <a:ext cx="6300000" cy="48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B22A2E"/>
              </a:buClr>
              <a:buFont typeface="Arial"/>
              <a:buChar char="▪"/>
            </a:pPr>
            <a:r>
              <a:rPr sz="1600" b="0" i="0">
                <a:solidFill>
                  <a:srgbClr val="2B2B2B"/>
                </a:solidFill>
                <a:latin typeface="Times New Roman"/>
              </a:rPr>
              <a:t>Cortex realises a bounded plan-then-execute agentic RAG pipeline over live work tools, running at zero cost on free-tier LLMs.</a:t>
            </a:r>
          </a:p>
          <a:p>
            <a:pPr marL="228600" indent="-228600">
              <a:spcAft>
                <a:spcPts val="800"/>
              </a:spcAft>
              <a:buClr>
                <a:srgbClr val="B22A2E"/>
              </a:buClr>
              <a:buFont typeface="Arial"/>
              <a:buChar char="▪"/>
            </a:pPr>
            <a:r>
              <a:rPr sz="1600" b="0" i="0">
                <a:solidFill>
                  <a:srgbClr val="2B2B2B"/>
                </a:solidFill>
                <a:latin typeface="Times New Roman"/>
              </a:rPr>
              <a:t>Every factual sentence cites numbered evidence and is verified; conflicts and missing information are reported, not hidden.</a:t>
            </a:r>
          </a:p>
          <a:p>
            <a:pPr marL="228600" indent="-228600">
              <a:spcAft>
                <a:spcPts val="800"/>
              </a:spcAft>
              <a:buClr>
                <a:srgbClr val="B22A2E"/>
              </a:buClr>
              <a:buFont typeface="Arial"/>
              <a:buChar char="▪"/>
            </a:pPr>
            <a:r>
              <a:rPr sz="1600" b="0" i="0">
                <a:solidFill>
                  <a:srgbClr val="2B2B2B"/>
                </a:solidFill>
                <a:latin typeface="Times New Roman"/>
              </a:rPr>
              <a:t>Actions are only proposed; one approval endpoint executes them, once, for the proposing user.</a:t>
            </a:r>
          </a:p>
          <a:p>
            <a:pPr marL="228600" indent="-228600">
              <a:spcAft>
                <a:spcPts val="800"/>
              </a:spcAft>
              <a:buClr>
                <a:srgbClr val="B22A2E"/>
              </a:buClr>
              <a:buFont typeface="Arial"/>
              <a:buChar char="▪"/>
            </a:pPr>
            <a:r>
              <a:rPr sz="1600" b="0" i="0">
                <a:solidFill>
                  <a:srgbClr val="2B2B2B"/>
                </a:solidFill>
                <a:latin typeface="Times New Roman"/>
              </a:rPr>
              <a:t>Memory is selective and explainable, with provenance, decay, expiry, pin, edit and forget.</a:t>
            </a:r>
          </a:p>
          <a:p>
            <a:pPr marL="228600" indent="-228600">
              <a:spcAft>
                <a:spcPts val="800"/>
              </a:spcAft>
              <a:buClr>
                <a:srgbClr val="B22A2E"/>
              </a:buClr>
              <a:buFont typeface="Arial"/>
              <a:buChar char="▪"/>
            </a:pPr>
            <a:r>
              <a:rPr sz="1600" b="0" i="0">
                <a:solidFill>
                  <a:srgbClr val="2B2B2B"/>
                </a:solidFill>
                <a:latin typeface="Times New Roman"/>
              </a:rPr>
              <a:t>Weakest areas so far: conflict detection and action proposals (1 of 2 cases each); deadline questions had the lowest groundedness.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79920" y="1150000"/>
          <a:ext cx="4173879" cy="376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6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 (preliminary)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B22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Mean groundedness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0.88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Citation recall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0.92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Not-found handled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1 /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Conflicts detected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1 / 2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Actions proposed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1 /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Executed without consent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Latency p50 / p90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B2B2B"/>
                          </a:solidFill>
                          <a:latin typeface="Times New Roman"/>
                        </a:rPr>
                        <a:t>3.7 s / 7.1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9920" y="5800000"/>
            <a:ext cx="10723880" cy="3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1">
                <a:solidFill>
                  <a:srgbClr val="6D6E71"/>
                </a:solidFill>
                <a:latin typeface="Times New Roman"/>
              </a:rPr>
              <a:t>Preliminary: one run of 12 developer-written questions on a synthetic workspace, Deep mode, free-tier models (evals/results/deep-2026-10-26.json).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22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9920" y="1150000"/>
            <a:ext cx="10723880" cy="49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 marL="228600" indent="-228600">
              <a:spcAft>
                <a:spcPts val="900"/>
              </a:spcAft>
              <a:buClr>
                <a:srgbClr val="B22A2E"/>
              </a:buClr>
              <a:buFont typeface="Arial"/>
              <a:buChar char="▪"/>
            </a:pPr>
            <a:r>
              <a:rPr sz="1800" b="0" i="0">
                <a:solidFill>
                  <a:srgbClr val="2B2B2B"/>
                </a:solidFill>
                <a:latin typeface="Times New Roman"/>
              </a:rPr>
              <a:t>Make conflict detection independent of the synthesis model by comparing dates and numbers extracted from different sources.</a:t>
            </a:r>
          </a:p>
          <a:p>
            <a:pPr marL="228600" indent="-228600">
              <a:spcAft>
                <a:spcPts val="900"/>
              </a:spcAft>
              <a:buClr>
                <a:srgbClr val="B22A2E"/>
              </a:buClr>
              <a:buFont typeface="Arial"/>
              <a:buChar char="▪"/>
            </a:pPr>
            <a:r>
              <a:rPr sz="1800" b="0" i="0">
                <a:solidFill>
                  <a:srgbClr val="2B2B2B"/>
                </a:solidFill>
                <a:latin typeface="Times New Roman"/>
              </a:rPr>
              <a:t>Enlarge the evaluation to the planned 50 questions, repeat runs to report variance, and add citation precision.</a:t>
            </a:r>
          </a:p>
          <a:p>
            <a:pPr marL="228600" indent="-228600">
              <a:spcAft>
                <a:spcPts val="900"/>
              </a:spcAft>
              <a:buClr>
                <a:srgbClr val="B22A2E"/>
              </a:buClr>
              <a:buFont typeface="Arial"/>
              <a:buChar char="▪"/>
            </a:pPr>
            <a:r>
              <a:rPr sz="1800" b="0" i="0">
                <a:solidFill>
                  <a:srgbClr val="2B2B2B"/>
                </a:solidFill>
                <a:latin typeface="Times New Roman"/>
              </a:rPr>
              <a:t>Bring the Oracle AI Database backend into use for vector search over memories and compare it with the SQLite fallback.</a:t>
            </a:r>
          </a:p>
          <a:p>
            <a:pPr marL="228600" indent="-228600">
              <a:spcAft>
                <a:spcPts val="900"/>
              </a:spcAft>
              <a:buClr>
                <a:srgbClr val="B22A2E"/>
              </a:buClr>
              <a:buFont typeface="Arial"/>
              <a:buChar char="▪"/>
            </a:pPr>
            <a:r>
              <a:rPr sz="1800" b="0" i="0">
                <a:solidFill>
                  <a:srgbClr val="2B2B2B"/>
                </a:solidFill>
                <a:latin typeface="Times New Roman"/>
              </a:rPr>
              <a:t>Implement time-travel queries over source snapshots, an editable plan before execution, and shareable reasoning receipts.</a:t>
            </a:r>
          </a:p>
          <a:p>
            <a:pPr marL="228600" indent="-228600">
              <a:spcAft>
                <a:spcPts val="900"/>
              </a:spcAft>
              <a:buClr>
                <a:srgbClr val="B22A2E"/>
              </a:buClr>
              <a:buFont typeface="Arial"/>
              <a:buChar char="▪"/>
            </a:pPr>
            <a:r>
              <a:rPr sz="1800" b="0" i="0">
                <a:solidFill>
                  <a:srgbClr val="2B2B2B"/>
                </a:solidFill>
                <a:latin typeface="Times New Roman"/>
              </a:rPr>
              <a:t>Expose Cortex as an MCP server so that other assistants can use its research and memory.</a:t>
            </a:r>
          </a:p>
          <a:p>
            <a:pPr marL="228600" indent="-228600">
              <a:spcAft>
                <a:spcPts val="900"/>
              </a:spcAft>
              <a:buClr>
                <a:srgbClr val="B22A2E"/>
              </a:buClr>
              <a:buFont typeface="Arial"/>
              <a:buChar char="▪"/>
            </a:pPr>
            <a:r>
              <a:rPr sz="1800" b="0" i="0">
                <a:solidFill>
                  <a:srgbClr val="2B2B2B"/>
                </a:solidFill>
                <a:latin typeface="Times New Roman"/>
              </a:rPr>
              <a:t>Study a learned, granularity-aware retrieval policy in the spirit of GRASP [5] once a trainable model and data are available.</a:t>
            </a:r>
          </a:p>
          <a:p>
            <a:pPr marL="228600" indent="-228600">
              <a:spcAft>
                <a:spcPts val="900"/>
              </a:spcAft>
              <a:buClr>
                <a:srgbClr val="B22A2E"/>
              </a:buClr>
              <a:buFont typeface="Arial"/>
              <a:buChar char="▪"/>
            </a:pPr>
            <a:r>
              <a:rPr sz="1800" b="0" i="0">
                <a:solidFill>
                  <a:srgbClr val="2B2B2B"/>
                </a:solidFill>
                <a:latin typeface="Times New Roman"/>
              </a:rPr>
              <a:t>Deploy to a hosted environment with persistent storage for pending actions.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(1/2)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23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9920" y="1100000"/>
            <a:ext cx="10723880" cy="50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[1]  P. Lewis et al., "Retrieval-augmented generation for knowledge-intensive NLP tasks," in Proc. NeurIPS, vol. 33, 2020, pp. 9459-9474.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[2]  S. Yao et al., "ReAct: Synergizing reasoning and acting in language models," in Proc. ICLR, 2023.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[3]  H. Trivedi, N. Balasubramanian, T. Khot, and A. Sabharwal, "Interleaving retrieval with chain-of-thought reasoning for knowledge-intensive multi-step questions," in Proc. ACL, 2023, pp. 10014-10037.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[4]  O. Press, M. Zhang, S. Min, L. Schmidt, N. A. Smith, and M. Lewis, "Measuring and narrowing the compositionality gap in language models," in Findings of EMNLP, 2023, pp. 5687-5711.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[5]  V. Gandhi et al., "GRASP: GRanularity-aware search policy for agentic RAG," arXiv:2607.10463, 2026.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[6]  A. Asai, Z. Wu, Y. Wang, A. Sil, and H. Hajishirzi, "Self-RAG: Learning to retrieve, generate, and critique through self-reflection," in Proc. ICLR, 2024.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[7]  S.-Q. Yan, J.-C. Gu, Y. Zhu, and Z.-H. Ling, "Corrective retrieval augmented generation," arXiv:2401.15884, 2024.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[8]  S. Jeong, J. Baek, S. Cho, S. J. Hwang, and J. C. Park, "Adaptive-RAG: Learning to adapt retrieval-augmented large language models through question complexity," in Proc. NAACL, 2024.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[9]  T. Gao, H. Yen, J. Yu, and D. Chen, "Enabling large language models to generate text with citations," in Proc. EMNLP, 2023, pp. 6465-6488.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[10]  S. Min et al., "FActScore: Fine-grained atomic evaluation of factual precision in long form text generation," in Proc. EMNLP, 2023, pp. 12076-12100.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[11]  C. Packer, V. Fang, S. G. Patil, K. Lin, S. Wooders, and J. E. Gonzalez, "MemGPT: Towards LLMs as operating systems," arXiv:2310.08560, 2023.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(2/2)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24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9920" y="1100000"/>
            <a:ext cx="10723880" cy="505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[12]  B. Jin et al., "Search-R1: Training LLMs to reason and leverage search engines with reinforcement learning," arXiv:2503.09516, 2025.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[13]  J. S. Park, J. C. O'Brien, C. J. Cai, M. R. Morris, P. Liang, and M. S. Bernstein, "Generative agents: Interactive simulacra of human behavior," in Proc. ACM UIST, 2023.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[14]  T. Schick et al., "Toolformer: Language models can teach themselves to use tools," in Proc. NeurIPS, vol. 36, 2023.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[15]  X. Hou, Y. Zhao, S. Wang, and H. Wang, "Model Context Protocol (MCP): Landscape, security threats, and future research directions," arXiv:2503.23278, 2025.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[16]  M. Chui et al., "The social economy: Unlocking value and productivity through social technologies," McKinsey Global Institute, 2012.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[17]  N. F. Liu et al., "Lost in the middle: How language models use long contexts," Trans. ACL, vol. 12, pp. 157-173, 2024.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[18]  L. Gao et al., "RARR: Researching and revising what language models say, using language models," in Proc. ACL, 2023, pp. 16477-16508.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[19]  S. Es, J. James, L. Espinosa Anke, and S. Schockaert, "RAGAs: Automated evaluation of retrieval augmented generation," in Proc. EACL: System Demonstrations, 2024, pp. 150-158.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[20]  A. Singh, A. Ehtesham, S. Kumar, and T. T. Khoei, "Agentic retrieval-augmented generation: A survey on agentic RAG," arXiv:2501.09136, 2025.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[21]  Anthropic, "Introducing the Model Context Protocol," Nov. 2024. [Online]. Available: https://www.anthropic.com/news/model-context-protocol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Times New Roman"/>
              </a:rPr>
              <a:t>[22]  M. Chui et al., "The economic potential of generative AI: The next productivity frontier," McKinsey &amp; Company, Jun. 2023.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138C-BB1C-D23E-3708-3B0A755E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558800"/>
            <a:ext cx="10723880" cy="3924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Publication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8AF1-4166-1B2C-3C26-55DE547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920" y="6356352"/>
            <a:ext cx="9875520" cy="223184"/>
          </a:xfrm>
        </p:spPr>
        <p:txBody>
          <a:bodyPr/>
          <a:lstStyle/>
          <a:p>
            <a:pPr algn="l"/>
            <a:r>
              <a:rPr lang="en-US" dirty="0">
                <a:latin typeface="Metropolis" panose="00000500000000000000" pitchFamily="50" charset="0"/>
              </a:rPr>
              <a:t>Dr. D. Y. Patil Unitech Society’s  |  Dr. D. Y. Patil Institute of Technology | Department of Computer Engineering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202C-EFC5-0944-1800-F77DAA3F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124C6-FD9A-4851-9C21-6B319165FA16}" type="slidenum">
              <a:rPr lang="en-IN" smtClean="0"/>
              <a:pPr/>
              <a:t>25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EAED-0865-5379-6EEE-746AA4365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31" y="108885"/>
            <a:ext cx="3142496" cy="9365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9920" y="1150000"/>
            <a:ext cx="10723880" cy="1200000"/>
          </a:xfrm>
          <a:prstGeom prst="roundRect">
            <a:avLst>
              <a:gd name="adj" fmla="val 12000"/>
            </a:avLst>
          </a:prstGeom>
          <a:solidFill>
            <a:srgbClr val="FBF2E0"/>
          </a:solidFill>
          <a:ln w="12700">
            <a:solidFill>
              <a:srgbClr val="D0A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9920" y="1210000"/>
            <a:ext cx="10423880" cy="11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B22A2E"/>
                </a:solidFill>
                <a:latin typeface="Times New Roman"/>
              </a:rPr>
              <a:t>Title:</a:t>
            </a:r>
            <a:r>
              <a:rPr sz="1700" b="0" i="0">
                <a:solidFill>
                  <a:srgbClr val="2B2B2B"/>
                </a:solidFill>
                <a:latin typeface="Times New Roman"/>
              </a:rPr>
              <a:t> Agentic Retrieval-Augmented Generation over Live Workspace Data: A Survey and the Cortex Assistant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B22A2E"/>
                </a:solidFill>
                <a:latin typeface="Times New Roman"/>
              </a:rPr>
              <a:t>Authors:</a:t>
            </a:r>
            <a:r>
              <a:rPr sz="1500" b="0" i="0">
                <a:solidFill>
                  <a:srgbClr val="2B2B2B"/>
                </a:solidFill>
                <a:latin typeface="Times New Roman"/>
              </a:rPr>
              <a:t> Ajit Paraskar, Harshvardhan Patil, Prathamesh Kumbhar, Bikram Ghosh (Dept. of Computer Engineering, DIT Pimpri)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920" y="2500000"/>
            <a:ext cx="5361940" cy="3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B22A2E"/>
                </a:solidFill>
                <a:latin typeface="Times New Roman"/>
              </a:rPr>
              <a:t>Paper details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Type: review paper with a case study (IEEE conference format)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Taxonomy of 8 design dimensions of agentic RAG, anchored on GRASP [5]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Cortex case study with preliminary 12-question evaluation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41 references; 2 figures, 4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1860" y="2500000"/>
            <a:ext cx="5261940" cy="35000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B22A2E"/>
                </a:solidFill>
                <a:latin typeface="Times New Roman"/>
              </a:rPr>
              <a:t>Status and target venues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1" i="0">
                <a:solidFill>
                  <a:srgbClr val="2B2B2B"/>
                </a:solidFill>
                <a:latin typeface="Times New Roman"/>
              </a:rPr>
              <a:t>Status: manuscript prepared; not yet submitted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Venue, submission date and decision: to be finalised with the guide</a:t>
            </a:r>
          </a:p>
          <a:p>
            <a:pPr marL="228600" indent="-228600">
              <a:spcAft>
                <a:spcPts val="600"/>
              </a:spcAft>
              <a:buClr>
                <a:srgbClr val="B22A2E"/>
              </a:buClr>
              <a:buFont typeface="Arial"/>
              <a:buChar char="▪"/>
            </a:pPr>
            <a:r>
              <a:rPr sz="1500" b="0" i="0">
                <a:solidFill>
                  <a:srgbClr val="2B2B2B"/>
                </a:solidFill>
                <a:latin typeface="Times New Roman"/>
              </a:rPr>
              <a:t>Candidate venues: SPPU / central university conferences, ACM IKDD CODS-COMAD, IEEE Access, ACL Rolling Review (ACL / EMNLP / NAACL)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EC14E4E-1CAC-4FD5-A4E5-357221E265D2}"/>
              </a:ext>
            </a:extLst>
          </p:cNvPr>
          <p:cNvSpPr txBox="1"/>
          <p:nvPr/>
        </p:nvSpPr>
        <p:spPr>
          <a:xfrm>
            <a:off x="1420305" y="1613118"/>
            <a:ext cx="9351390" cy="36317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>
                <a:solidFill>
                  <a:srgbClr val="B22B2F"/>
                </a:solidFill>
                <a:latin typeface="Metropolis Black" panose="00000A00000000000000" pitchFamily="50" charset="0"/>
              </a:rPr>
              <a:t>THANK</a:t>
            </a:r>
          </a:p>
          <a:p>
            <a:pPr algn="ctr"/>
            <a:r>
              <a:rPr lang="en-US" sz="11500" b="1" dirty="0">
                <a:solidFill>
                  <a:srgbClr val="B22B2F"/>
                </a:solidFill>
                <a:latin typeface="Metropolis Black" panose="00000A00000000000000" pitchFamily="50" charset="0"/>
              </a:rPr>
              <a:t>YOU</a:t>
            </a:r>
            <a:endParaRPr lang="en-IN" sz="11500" b="1" dirty="0">
              <a:solidFill>
                <a:srgbClr val="B22B2F"/>
              </a:solidFill>
              <a:latin typeface="Metropolis Black" panose="00000A00000000000000" pitchFamily="50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951FDD2-A177-413C-9D27-7637552AA286}"/>
              </a:ext>
            </a:extLst>
          </p:cNvPr>
          <p:cNvSpPr/>
          <p:nvPr/>
        </p:nvSpPr>
        <p:spPr>
          <a:xfrm>
            <a:off x="10735337" y="5168898"/>
            <a:ext cx="1456664" cy="1725692"/>
          </a:xfrm>
          <a:custGeom>
            <a:avLst/>
            <a:gdLst>
              <a:gd name="connsiteX0" fmla="*/ 1456664 w 1456664"/>
              <a:gd name="connsiteY0" fmla="*/ 0 h 1725692"/>
              <a:gd name="connsiteX1" fmla="*/ 1456664 w 1456664"/>
              <a:gd name="connsiteY1" fmla="*/ 1725692 h 1725692"/>
              <a:gd name="connsiteX2" fmla="*/ 0 w 1456664"/>
              <a:gd name="connsiteY2" fmla="*/ 1725692 h 1725692"/>
              <a:gd name="connsiteX3" fmla="*/ 25710 w 1456664"/>
              <a:gd name="connsiteY3" fmla="*/ 1654098 h 1725692"/>
              <a:gd name="connsiteX4" fmla="*/ 1256808 w 1456664"/>
              <a:gd name="connsiteY4" fmla="*/ 121416 h 1725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6664" h="1725692">
                <a:moveTo>
                  <a:pt x="1456664" y="0"/>
                </a:moveTo>
                <a:lnTo>
                  <a:pt x="1456664" y="1725692"/>
                </a:lnTo>
                <a:lnTo>
                  <a:pt x="0" y="1725692"/>
                </a:lnTo>
                <a:lnTo>
                  <a:pt x="25710" y="1654098"/>
                </a:lnTo>
                <a:cubicBezTo>
                  <a:pt x="272959" y="1027077"/>
                  <a:pt x="705916" y="493591"/>
                  <a:pt x="1256808" y="121416"/>
                </a:cubicBezTo>
                <a:close/>
              </a:path>
            </a:pathLst>
          </a:custGeom>
          <a:solidFill>
            <a:srgbClr val="B22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057FAF5-A828-4311-A59D-9840917AA944}"/>
              </a:ext>
            </a:extLst>
          </p:cNvPr>
          <p:cNvSpPr/>
          <p:nvPr/>
        </p:nvSpPr>
        <p:spPr>
          <a:xfrm rot="5400000" flipH="1">
            <a:off x="-71121" y="-473175"/>
            <a:ext cx="2500803" cy="2962671"/>
          </a:xfrm>
          <a:custGeom>
            <a:avLst/>
            <a:gdLst>
              <a:gd name="connsiteX0" fmla="*/ 1456664 w 1456664"/>
              <a:gd name="connsiteY0" fmla="*/ 0 h 1725692"/>
              <a:gd name="connsiteX1" fmla="*/ 1456664 w 1456664"/>
              <a:gd name="connsiteY1" fmla="*/ 1725692 h 1725692"/>
              <a:gd name="connsiteX2" fmla="*/ 0 w 1456664"/>
              <a:gd name="connsiteY2" fmla="*/ 1725692 h 1725692"/>
              <a:gd name="connsiteX3" fmla="*/ 25710 w 1456664"/>
              <a:gd name="connsiteY3" fmla="*/ 1654098 h 1725692"/>
              <a:gd name="connsiteX4" fmla="*/ 1256808 w 1456664"/>
              <a:gd name="connsiteY4" fmla="*/ 121416 h 1725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6664" h="1725692">
                <a:moveTo>
                  <a:pt x="1456664" y="0"/>
                </a:moveTo>
                <a:lnTo>
                  <a:pt x="1456664" y="1725692"/>
                </a:lnTo>
                <a:lnTo>
                  <a:pt x="0" y="1725692"/>
                </a:lnTo>
                <a:lnTo>
                  <a:pt x="25710" y="1654098"/>
                </a:lnTo>
                <a:cubicBezTo>
                  <a:pt x="272959" y="1027077"/>
                  <a:pt x="705916" y="493591"/>
                  <a:pt x="1256808" y="121416"/>
                </a:cubicBezTo>
                <a:close/>
              </a:path>
            </a:pathLst>
          </a:custGeom>
          <a:solidFill>
            <a:srgbClr val="E2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54646F-2CD4-40FE-91D7-DDCFD41B1A63}"/>
              </a:ext>
            </a:extLst>
          </p:cNvPr>
          <p:cNvGrpSpPr/>
          <p:nvPr/>
        </p:nvGrpSpPr>
        <p:grpSpPr>
          <a:xfrm>
            <a:off x="4765431" y="6373397"/>
            <a:ext cx="2661137" cy="307777"/>
            <a:chOff x="6096148" y="6392724"/>
            <a:chExt cx="2661137" cy="30777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5A4B721-497D-4727-82E9-B25C4F701682}"/>
                </a:ext>
              </a:extLst>
            </p:cNvPr>
            <p:cNvGrpSpPr/>
            <p:nvPr/>
          </p:nvGrpSpPr>
          <p:grpSpPr>
            <a:xfrm>
              <a:off x="6096148" y="6392724"/>
              <a:ext cx="2614199" cy="307777"/>
              <a:chOff x="6979921" y="6300251"/>
              <a:chExt cx="2614199" cy="30777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AC1AB7-512A-4797-BD4E-51FF30C328F3}"/>
                  </a:ext>
                </a:extLst>
              </p:cNvPr>
              <p:cNvSpPr txBox="1"/>
              <p:nvPr/>
            </p:nvSpPr>
            <p:spPr>
              <a:xfrm>
                <a:off x="6979921" y="6300251"/>
                <a:ext cx="1935480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B6D71"/>
                    </a:solidFill>
                    <a:effectLst/>
                    <a:uLnTx/>
                    <a:uFillTx/>
                    <a:latin typeface="Metropolis" panose="00000500000000000000" pitchFamily="50" charset="0"/>
                    <a:ea typeface="+mn-ea"/>
                    <a:cs typeface="+mn-cs"/>
                  </a:rPr>
                  <a:t>engg.dypvp.edu.in  |  </a:t>
                </a:r>
                <a:endPara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6B6D71"/>
                  </a:solidFill>
                  <a:effectLst/>
                  <a:uLnTx/>
                  <a:uFillTx/>
                  <a:latin typeface="Metropolis" panose="00000500000000000000" pitchFamily="50" charset="0"/>
                  <a:ea typeface="+mn-ea"/>
                  <a:cs typeface="+mn-cs"/>
                </a:endParaRP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6ABB6278-54B6-40BA-B653-B4417C7DE24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61746" t="1" b="-1"/>
              <a:stretch/>
            </p:blipFill>
            <p:spPr>
              <a:xfrm>
                <a:off x="8854440" y="6365638"/>
                <a:ext cx="739680" cy="180975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46B23B-13D5-4EB9-82B1-9C9F0B3BB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7604" y="6491853"/>
              <a:ext cx="89681" cy="896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9168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PDP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B22B2F"/>
      </a:accent1>
      <a:accent2>
        <a:srgbClr val="D1A550"/>
      </a:accent2>
      <a:accent3>
        <a:srgbClr val="6B6D7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DYPDP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B22B2F"/>
      </a:accent1>
      <a:accent2>
        <a:srgbClr val="D1A550"/>
      </a:accent2>
      <a:accent3>
        <a:srgbClr val="6B6D7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1717</TotalTime>
  <Words>4856</Words>
  <Application>Microsoft Office PowerPoint</Application>
  <PresentationFormat>Widescreen</PresentationFormat>
  <Paragraphs>563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Metropolis</vt:lpstr>
      <vt:lpstr>Ebrima</vt:lpstr>
      <vt:lpstr>Metropolis Semi Bold</vt:lpstr>
      <vt:lpstr>Metropolis Extra Bold</vt:lpstr>
      <vt:lpstr>Metropolis Black</vt:lpstr>
      <vt:lpstr>Calibri</vt:lpstr>
      <vt:lpstr>Arial</vt:lpstr>
      <vt:lpstr>Wingdings</vt:lpstr>
      <vt:lpstr>Times New Roman</vt:lpstr>
      <vt:lpstr>Calibri Light</vt:lpstr>
      <vt:lpstr>Office Theme</vt:lpstr>
      <vt:lpstr>1_Office Theme</vt:lpstr>
      <vt:lpstr>PowerPoint Presentation</vt:lpstr>
      <vt:lpstr>Table of Contents </vt:lpstr>
      <vt:lpstr>Introduction </vt:lpstr>
      <vt:lpstr>Literature Survey (1/3) </vt:lpstr>
      <vt:lpstr>Literature Survey (2/3) </vt:lpstr>
      <vt:lpstr>Literature Survey (3/3) </vt:lpstr>
      <vt:lpstr>Gap Finding from Literature </vt:lpstr>
      <vt:lpstr>Motivation </vt:lpstr>
      <vt:lpstr>Problem Statement </vt:lpstr>
      <vt:lpstr>Scope &amp; Objective (1/2) </vt:lpstr>
      <vt:lpstr>Scope &amp; Objective (2/2) </vt:lpstr>
      <vt:lpstr>System Architecture </vt:lpstr>
      <vt:lpstr>Algorithm / Methods (1/2) </vt:lpstr>
      <vt:lpstr>Algorithm / Methods (2/2) </vt:lpstr>
      <vt:lpstr>Requirement Analysis (1/2) </vt:lpstr>
      <vt:lpstr>Requirement Analysis (2/2) </vt:lpstr>
      <vt:lpstr>UML Diagram: Use Case </vt:lpstr>
      <vt:lpstr>UML Diagram: Class </vt:lpstr>
      <vt:lpstr>UML Diagram: Sequence </vt:lpstr>
      <vt:lpstr>UML Diagram: Activity </vt:lpstr>
      <vt:lpstr>Conclusion </vt:lpstr>
      <vt:lpstr>Future Work </vt:lpstr>
      <vt:lpstr>References (1/2) </vt:lpstr>
      <vt:lpstr>References (2/2) </vt:lpstr>
      <vt:lpstr>Paper Publication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D. Y. Patil Unitech Society’s Dr. D. Y. Patil Institute of Technology</dc:title>
  <dc:creator>Armaan</dc:creator>
  <cp:lastModifiedBy>Prathamesh Kumbhar</cp:lastModifiedBy>
  <cp:revision>247</cp:revision>
  <dcterms:created xsi:type="dcterms:W3CDTF">2024-03-22T04:12:27Z</dcterms:created>
  <dcterms:modified xsi:type="dcterms:W3CDTF">2026-10-30T10:07:14Z</dcterms:modified>
</cp:coreProperties>
</file>